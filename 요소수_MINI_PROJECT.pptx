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2" r:id="rId31"/>
    <p:sldId id="281" r:id="rId30"/>
    <p:sldId id="277" r:id="rId4"/>
    <p:sldId id="278" r:id="rId5"/>
    <p:sldId id="279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6A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814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09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312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75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095991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6081703" y="0"/>
            <a:ext cx="14288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638793"/>
            <a:ext cx="5238741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kern="0" spc="-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 기반 요소수·휘발유
재고 관리 및 가격 정보
제공 플랫폼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428625" y="3361832"/>
            <a:ext cx="4190981" cy="5143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A0AA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2021년 요소수 대란 사례를 활용한
주유소 경영 혁신 서비스 제안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095991" y="0"/>
            <a:ext cx="3047981" cy="514350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524616" y="571500"/>
            <a:ext cx="2190731" cy="946547"/>
          </a:xfrm>
          <a:prstGeom prst="rect">
            <a:avLst/>
          </a:prstGeom>
          <a:solidFill>
            <a:srgbClr val="1A1A1A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38928" y="785813"/>
            <a:ext cx="1762106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PROJECT TEAM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738928" y="984052"/>
            <a:ext cx="1762106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FUEL LINK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24616" y="1775222"/>
            <a:ext cx="2190731" cy="946547"/>
          </a:xfrm>
          <a:prstGeom prst="rect">
            <a:avLst/>
          </a:prstGeom>
          <a:solidFill>
            <a:srgbClr val="1A1A1A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38928" y="1989534"/>
            <a:ext cx="1762106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DATE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738928" y="2187773"/>
            <a:ext cx="1762106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2026. 06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24616" y="3696891"/>
            <a:ext cx="2190731" cy="875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-2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FUEL
LINK</a:t>
            </a:r>
            <a:r>
              <a:rPr lang="en-US" sz="2450" b="1" kern="0" spc="-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</a:t>
            </a:r>
            <a:endParaRPr lang="en-US" sz="2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143125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128838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1571625" cy="377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45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INDEX</a:t>
            </a:r>
            <a:endParaRPr lang="en-US" sz="2450" dirty="0"/>
          </a:p>
        </p:txBody>
      </p:sp>
      <p:sp>
        <p:nvSpPr>
          <p:cNvPr id="13" name="Shape 10"/>
          <p:cNvSpPr/>
          <p:nvPr/>
        </p:nvSpPr>
        <p:spPr>
          <a:xfrm>
            <a:off x="2571750" y="857250"/>
            <a:ext cx="2928938" cy="1143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86063" y="1071563"/>
            <a:ext cx="250031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786063" y="1434108"/>
            <a:ext cx="25003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786063" y="1737717"/>
            <a:ext cx="2500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기반 스마트 주유소 운영 플랫폼 FUEL LINK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786438" y="857250"/>
            <a:ext cx="2928938" cy="1143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00750" y="1071563"/>
            <a:ext cx="250031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000750" y="1434108"/>
            <a:ext cx="25003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00750" y="1737717"/>
            <a:ext cx="2500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요소수 대란·중동 지정학 리스크와 유가 변동성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571750" y="2286000"/>
            <a:ext cx="2928938" cy="1143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86063" y="2500313"/>
            <a:ext cx="250031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2786063" y="2862858"/>
            <a:ext cx="25003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786063" y="3166467"/>
            <a:ext cx="2500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주유소 운영 실태 데이터 분석 (N=200)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786438" y="2286000"/>
            <a:ext cx="2928938" cy="1143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00750" y="2500313"/>
            <a:ext cx="250031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000750" y="2862858"/>
            <a:ext cx="25003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000750" y="3166467"/>
            <a:ext cx="2500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FUEL LINK 핵심 기능 및 차별화 전략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571750" y="3714750"/>
            <a:ext cx="2928938" cy="1143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86063" y="3929063"/>
            <a:ext cx="250031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2786063" y="4291608"/>
            <a:ext cx="25003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2786063" y="4595217"/>
            <a:ext cx="2500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앱 출시 로드맵 (12개월)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786438" y="3714750"/>
            <a:ext cx="2928938" cy="1143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00750" y="3929063"/>
            <a:ext cx="250031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000750" y="4291608"/>
            <a:ext cx="250031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기대효과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000750" y="4595217"/>
            <a:ext cx="2500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주유소 경영 혁신과 수익 개선 효과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1250156" y="146447"/>
            <a:ext cx="359586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ko-KR" alt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altLang="ko-KR" sz="700" b="1" kern="0" spc="1" dirty="0">
              <a:solidFill>
                <a:srgbClr val="A0A0A0"/>
              </a:solidFill>
              <a:latin typeface="Space Grotesk Bold" pitchFamily="34" charset="0"/>
              <a:ea typeface="Space Grotesk Bold" pitchFamily="34" charset="-122"/>
              <a:cs typeface="Space Grotesk Bold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42347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SITUATION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46572"/>
            <a:ext cx="2000250" cy="147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ko-KR" altLang="en-US" sz="2000" dirty="0" err="1"/>
              <a:t>요소수</a:t>
            </a:r>
            <a:endParaRPr lang="en-US" altLang="ko-KR" sz="2000" dirty="0"/>
          </a:p>
          <a:p>
            <a:pPr marL="0" indent="0" algn="l">
              <a:lnSpc>
                <a:spcPct val="96000"/>
              </a:lnSpc>
              <a:buNone/>
            </a:pPr>
            <a:r>
              <a:rPr lang="ko-KR" altLang="en-US" sz="2000" dirty="0"/>
              <a:t>이어드림</a:t>
            </a:r>
            <a:endParaRPr lang="en-US" altLang="ko-KR" sz="2000" dirty="0"/>
          </a:p>
          <a:p>
            <a:pPr marL="0" indent="0" algn="l">
              <a:lnSpc>
                <a:spcPct val="96000"/>
              </a:lnSpc>
              <a:buNone/>
            </a:pPr>
            <a:endParaRPr lang="en-US" altLang="ko-KR" sz="2000" dirty="0"/>
          </a:p>
          <a:p>
            <a:pPr marL="0" indent="0" algn="l">
              <a:lnSpc>
                <a:spcPct val="96000"/>
              </a:lnSpc>
              <a:buNone/>
            </a:pPr>
            <a:endParaRPr lang="en-US" altLang="ko-KR" sz="2000" dirty="0"/>
          </a:p>
          <a:p>
            <a:pPr marL="0" indent="0" algn="l">
              <a:lnSpc>
                <a:spcPct val="96000"/>
              </a:lnSpc>
              <a:buNone/>
            </a:pPr>
            <a:endParaRPr lang="en-US" sz="200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01EF75FF-CA14-4E7A-99CE-12C9A9B8C92B}"/>
              </a:ext>
            </a:extLst>
          </p:cNvPr>
          <p:cNvSpPr/>
          <p:nvPr/>
        </p:nvSpPr>
        <p:spPr>
          <a:xfrm>
            <a:off x="375047" y="153308"/>
            <a:ext cx="359586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ko-KR" alt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33139D7E-2030-4F8E-9AD9-22D03FCB7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340" y="2067121"/>
            <a:ext cx="2738436" cy="28860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D343FC30-EFDE-4679-AA1F-FB5EB08CB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2215" y="2067121"/>
            <a:ext cx="3324783" cy="25432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4" name="화살표: U자형 33">
            <a:extLst>
              <a:ext uri="{FF2B5EF4-FFF2-40B4-BE49-F238E27FC236}">
                <a16:creationId xmlns:a16="http://schemas.microsoft.com/office/drawing/2014/main" id="{755AE10E-6433-45BB-BB8C-E8E9CFFE720C}"/>
              </a:ext>
            </a:extLst>
          </p:cNvPr>
          <p:cNvSpPr/>
          <p:nvPr/>
        </p:nvSpPr>
        <p:spPr>
          <a:xfrm>
            <a:off x="4250531" y="1182079"/>
            <a:ext cx="2738436" cy="809424"/>
          </a:xfrm>
          <a:prstGeom prst="uturnArrow">
            <a:avLst/>
          </a:prstGeom>
          <a:solidFill>
            <a:srgbClr val="F06A1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67E07C-5FC5-440B-AA1D-0BE0816DD7FF}"/>
              </a:ext>
            </a:extLst>
          </p:cNvPr>
          <p:cNvSpPr txBox="1"/>
          <p:nvPr/>
        </p:nvSpPr>
        <p:spPr>
          <a:xfrm>
            <a:off x="2892939" y="581933"/>
            <a:ext cx="6124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 xml:space="preserve">전국 </a:t>
            </a:r>
            <a:r>
              <a:rPr lang="ko-KR" altLang="en-US" b="1" dirty="0" err="1"/>
              <a:t>요소수</a:t>
            </a:r>
            <a:r>
              <a:rPr lang="ko-KR" altLang="en-US" b="1" dirty="0"/>
              <a:t xml:space="preserve"> 지도가 한눈에</a:t>
            </a:r>
            <a:r>
              <a:rPr lang="en-US" altLang="ko-KR" b="1" dirty="0"/>
              <a:t xml:space="preserve">, </a:t>
            </a:r>
            <a:r>
              <a:rPr lang="ko-KR" altLang="en-US" b="1" dirty="0"/>
              <a:t>주유소 경영의 든든한 파트너</a:t>
            </a:r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3B94E02-CD7B-4B94-8EF8-B507435EFA21}"/>
              </a:ext>
            </a:extLst>
          </p:cNvPr>
          <p:cNvSpPr/>
          <p:nvPr/>
        </p:nvSpPr>
        <p:spPr>
          <a:xfrm>
            <a:off x="171453" y="2105220"/>
            <a:ext cx="2196584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300" b="1" dirty="0"/>
              <a:t>현황</a:t>
            </a:r>
            <a:r>
              <a:rPr lang="en-US" altLang="ko-KR" sz="1300" b="1" dirty="0"/>
              <a:t>:</a:t>
            </a:r>
            <a:r>
              <a:rPr lang="ko-KR" altLang="en-US" sz="1300" dirty="0"/>
              <a:t> 경기도 현황 분석 기준</a:t>
            </a:r>
            <a:r>
              <a:rPr lang="en-US" altLang="ko-KR" sz="1300" dirty="0"/>
              <a:t xml:space="preserve">, </a:t>
            </a:r>
            <a:r>
              <a:rPr lang="ko-KR" altLang="en-US" sz="1300" dirty="0" err="1"/>
              <a:t>요소수</a:t>
            </a:r>
            <a:r>
              <a:rPr lang="ko-KR" altLang="en-US" sz="1300" dirty="0"/>
              <a:t xml:space="preserve"> 합계 </a:t>
            </a:r>
            <a:r>
              <a:rPr lang="en-US" altLang="ko-KR" sz="1300" dirty="0"/>
              <a:t xml:space="preserve">17,500L </a:t>
            </a:r>
            <a:r>
              <a:rPr lang="ko-KR" altLang="en-US" sz="1300" dirty="0"/>
              <a:t xml:space="preserve">및 휘발유 </a:t>
            </a:r>
            <a:r>
              <a:rPr lang="en-US" altLang="ko-KR" sz="1300" dirty="0"/>
              <a:t xml:space="preserve">160,000L </a:t>
            </a:r>
            <a:r>
              <a:rPr lang="ko-KR" altLang="en-US" sz="1300" dirty="0"/>
              <a:t>유통 중</a:t>
            </a:r>
            <a:endParaRPr lang="en-US" altLang="ko-KR" sz="13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3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300" b="1" dirty="0"/>
              <a:t>핵심</a:t>
            </a:r>
            <a:r>
              <a:rPr lang="en-US" altLang="ko-KR" sz="1300" b="1" dirty="0"/>
              <a:t>:</a:t>
            </a:r>
            <a:r>
              <a:rPr lang="ko-KR" altLang="en-US" sz="1300" dirty="0"/>
              <a:t> 지역별 최고</a:t>
            </a:r>
            <a:r>
              <a:rPr lang="en-US" altLang="ko-KR" sz="1300" dirty="0"/>
              <a:t>/</a:t>
            </a:r>
            <a:r>
              <a:rPr lang="ko-KR" altLang="en-US" sz="1300" dirty="0"/>
              <a:t>최저가 실시간 모니터링 및 재고 현황 데이터 기반 관리</a:t>
            </a:r>
            <a:endParaRPr lang="en-US" altLang="ko-KR" sz="1300" dirty="0"/>
          </a:p>
          <a:p>
            <a:endParaRPr lang="ko-KR" altLang="en-US" sz="13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300" b="1" dirty="0"/>
              <a:t>가치</a:t>
            </a:r>
            <a:r>
              <a:rPr lang="en-US" altLang="ko-KR" sz="1300" b="1" dirty="0"/>
              <a:t>:</a:t>
            </a:r>
            <a:r>
              <a:rPr lang="ko-KR" altLang="en-US" sz="1300" dirty="0"/>
              <a:t> 데이터로 연결되는 스마트 주유소</a:t>
            </a:r>
            <a:r>
              <a:rPr lang="en-US" altLang="ko-KR" sz="1300" dirty="0"/>
              <a:t>, FUEL LINK</a:t>
            </a:r>
            <a:r>
              <a:rPr lang="ko-KR" altLang="en-US" sz="1300" dirty="0"/>
              <a:t>가 시작합니다</a:t>
            </a:r>
            <a:r>
              <a:rPr lang="en-US" altLang="ko-KR" sz="1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016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1250156" y="146447"/>
            <a:ext cx="359586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ko-KR" alt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altLang="ko-KR" sz="700" b="1" kern="0" spc="1" dirty="0">
              <a:solidFill>
                <a:srgbClr val="A0A0A0"/>
              </a:solidFill>
              <a:latin typeface="Space Grotesk Bold" pitchFamily="34" charset="0"/>
              <a:ea typeface="Space Grotesk Bold" pitchFamily="34" charset="-122"/>
              <a:cs typeface="Space Grotesk Bold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SITUATION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46572"/>
            <a:ext cx="2000250" cy="590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ko-KR" altLang="en-US" sz="2000" dirty="0" err="1"/>
              <a:t>요소수</a:t>
            </a:r>
            <a:endParaRPr lang="en-US" altLang="ko-KR" sz="2000" dirty="0"/>
          </a:p>
          <a:p>
            <a:pPr marL="0" indent="0" algn="l">
              <a:lnSpc>
                <a:spcPct val="96000"/>
              </a:lnSpc>
              <a:buNone/>
            </a:pPr>
            <a:r>
              <a:rPr lang="ko-KR" altLang="en-US" sz="2000" dirty="0"/>
              <a:t>이어드림</a:t>
            </a:r>
            <a:endParaRPr lang="en-US" sz="200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01EF75FF-CA14-4E7A-99CE-12C9A9B8C92B}"/>
              </a:ext>
            </a:extLst>
          </p:cNvPr>
          <p:cNvSpPr/>
          <p:nvPr/>
        </p:nvSpPr>
        <p:spPr>
          <a:xfrm>
            <a:off x="375047" y="153308"/>
            <a:ext cx="359586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ko-KR" alt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4FA905B-6086-425E-945D-E99A059A3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943" y="1121966"/>
            <a:ext cx="6097307" cy="37913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4A64B462-39E5-4B71-8059-27319FB03AD4}"/>
              </a:ext>
            </a:extLst>
          </p:cNvPr>
          <p:cNvSpPr/>
          <p:nvPr/>
        </p:nvSpPr>
        <p:spPr>
          <a:xfrm>
            <a:off x="2635250" y="578535"/>
            <a:ext cx="66738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34322D"/>
                </a:solidFill>
                <a:latin typeface="-apple-system"/>
              </a:rPr>
              <a:t>사장님의 감이 아닌 데이터로</a:t>
            </a:r>
            <a:r>
              <a:rPr lang="en-US" altLang="ko-KR" b="1" dirty="0">
                <a:solidFill>
                  <a:srgbClr val="34322D"/>
                </a:solidFill>
                <a:latin typeface="-apple-system"/>
              </a:rPr>
              <a:t xml:space="preserve">, </a:t>
            </a:r>
            <a:r>
              <a:rPr lang="ko-KR" altLang="en-US" b="1" dirty="0">
                <a:solidFill>
                  <a:srgbClr val="34322D"/>
                </a:solidFill>
                <a:latin typeface="-apple-system"/>
              </a:rPr>
              <a:t xml:space="preserve">수익을 극대화하는 </a:t>
            </a:r>
            <a:r>
              <a:rPr lang="en-US" altLang="ko-KR" b="1" dirty="0">
                <a:solidFill>
                  <a:srgbClr val="34322D"/>
                </a:solidFill>
                <a:latin typeface="-apple-system"/>
              </a:rPr>
              <a:t xml:space="preserve">AI </a:t>
            </a:r>
            <a:r>
              <a:rPr lang="ko-KR" altLang="en-US" b="1" dirty="0">
                <a:solidFill>
                  <a:srgbClr val="34322D"/>
                </a:solidFill>
                <a:latin typeface="-apple-system"/>
              </a:rPr>
              <a:t>가격 전략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423053E-DCF7-4F51-A4F1-7D2DB0463DCF}"/>
              </a:ext>
            </a:extLst>
          </p:cNvPr>
          <p:cNvSpPr/>
          <p:nvPr/>
        </p:nvSpPr>
        <p:spPr>
          <a:xfrm>
            <a:off x="171450" y="2260852"/>
            <a:ext cx="225397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34322D"/>
                </a:solidFill>
                <a:latin typeface="-apple-system"/>
              </a:rPr>
              <a:t xml:space="preserve"> 실시간 경쟁 분석</a:t>
            </a:r>
            <a:r>
              <a:rPr lang="en-US" altLang="ko-KR" sz="1200" b="1" dirty="0">
                <a:solidFill>
                  <a:srgbClr val="34322D"/>
                </a:solidFill>
                <a:latin typeface="-apple-system"/>
              </a:rPr>
              <a:t>:</a:t>
            </a:r>
            <a:r>
              <a:rPr lang="ko-KR" altLang="en-US" sz="1200" dirty="0">
                <a:solidFill>
                  <a:srgbClr val="34322D"/>
                </a:solidFill>
                <a:latin typeface="-apple-system"/>
              </a:rPr>
              <a:t> 내 주유소 반경 내 경쟁사 가격과 시세를 실시간으로 비교 분석합니다</a:t>
            </a:r>
            <a:r>
              <a:rPr lang="en-US" altLang="ko-KR" sz="1200" dirty="0">
                <a:solidFill>
                  <a:srgbClr val="34322D"/>
                </a:solidFill>
                <a:latin typeface="-apple-system"/>
              </a:rPr>
              <a:t>.</a:t>
            </a:r>
          </a:p>
          <a:p>
            <a:endParaRPr lang="en-US" altLang="ko-KR" sz="1200" dirty="0">
              <a:solidFill>
                <a:srgbClr val="34322D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34322D"/>
                </a:solidFill>
                <a:latin typeface="-apple-system"/>
              </a:rPr>
              <a:t xml:space="preserve"> AI </a:t>
            </a:r>
            <a:r>
              <a:rPr lang="ko-KR" altLang="en-US" sz="1200" b="1" dirty="0">
                <a:solidFill>
                  <a:srgbClr val="34322D"/>
                </a:solidFill>
                <a:latin typeface="-apple-system"/>
              </a:rPr>
              <a:t>맞춤 가격 추천</a:t>
            </a:r>
            <a:r>
              <a:rPr lang="en-US" altLang="ko-KR" sz="1200" b="1" dirty="0">
                <a:solidFill>
                  <a:srgbClr val="34322D"/>
                </a:solidFill>
                <a:latin typeface="-apple-system"/>
              </a:rPr>
              <a:t>:</a:t>
            </a:r>
            <a:r>
              <a:rPr lang="ko-KR" altLang="en-US" sz="1200" dirty="0">
                <a:solidFill>
                  <a:srgbClr val="34322D"/>
                </a:solidFill>
                <a:latin typeface="-apple-system"/>
              </a:rPr>
              <a:t> 재고 현황과 주변 시세를 종합하여 판매 회전율을 높일 수 있는 최적의 가격을 제안합니다</a:t>
            </a:r>
            <a:r>
              <a:rPr lang="en-US" altLang="ko-KR" sz="1200" dirty="0">
                <a:solidFill>
                  <a:srgbClr val="34322D"/>
                </a:solidFill>
                <a:latin typeface="-apple-system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34322D"/>
              </a:solidFill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200" b="1" dirty="0">
                <a:solidFill>
                  <a:srgbClr val="34322D"/>
                </a:solidFill>
                <a:latin typeface="-apple-system"/>
              </a:rPr>
              <a:t xml:space="preserve"> 시뮬레이션 경영</a:t>
            </a:r>
            <a:r>
              <a:rPr lang="en-US" altLang="ko-KR" sz="1200" b="1" dirty="0">
                <a:solidFill>
                  <a:srgbClr val="34322D"/>
                </a:solidFill>
                <a:latin typeface="-apple-system"/>
              </a:rPr>
              <a:t>:</a:t>
            </a:r>
            <a:r>
              <a:rPr lang="ko-KR" altLang="en-US" sz="1200" dirty="0">
                <a:solidFill>
                  <a:srgbClr val="34322D"/>
                </a:solidFill>
                <a:latin typeface="-apple-system"/>
              </a:rPr>
              <a:t> 가격 변동에 따른 재고 소진 예측을 통해 리스크 없는 스마트한 운영이 가능해집니다</a:t>
            </a:r>
            <a:r>
              <a:rPr lang="en-US" altLang="ko-KR" sz="1200" dirty="0">
                <a:solidFill>
                  <a:srgbClr val="34322D"/>
                </a:solidFill>
                <a:latin typeface="-apple-system"/>
              </a:rPr>
              <a:t>.</a:t>
            </a:r>
          </a:p>
          <a:p>
            <a:br>
              <a:rPr lang="ko-KR" altLang="en-US" sz="1200" dirty="0"/>
            </a:b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754149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1250156" y="146447"/>
            <a:ext cx="359586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ko-KR" alt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altLang="ko-KR" sz="700" b="1" kern="0" spc="1" dirty="0">
              <a:solidFill>
                <a:srgbClr val="A0A0A0"/>
              </a:solidFill>
              <a:latin typeface="Space Grotesk Bold" pitchFamily="34" charset="0"/>
              <a:ea typeface="Space Grotesk Bold" pitchFamily="34" charset="-122"/>
              <a:cs typeface="Space Grotesk Bold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1419224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01EF75FF-CA14-4E7A-99CE-12C9A9B8C92B}"/>
              </a:ext>
            </a:extLst>
          </p:cNvPr>
          <p:cNvSpPr/>
          <p:nvPr/>
        </p:nvSpPr>
        <p:spPr>
          <a:xfrm>
            <a:off x="375047" y="153308"/>
            <a:ext cx="359586" cy="1077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ko-KR" alt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F3D0F5C-8E6F-400D-8EBC-7D7D5DA45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" y="668507"/>
            <a:ext cx="4877630" cy="27996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A393167-C097-476A-BC8B-B19CA6577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40898"/>
            <a:ext cx="4310681" cy="31882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화살표: 왼쪽으로 구부러짐 1">
            <a:extLst>
              <a:ext uri="{FF2B5EF4-FFF2-40B4-BE49-F238E27FC236}">
                <a16:creationId xmlns:a16="http://schemas.microsoft.com/office/drawing/2014/main" id="{6BE5D14C-39A5-4F79-97B6-DE2B469713DC}"/>
              </a:ext>
            </a:extLst>
          </p:cNvPr>
          <p:cNvSpPr/>
          <p:nvPr/>
        </p:nvSpPr>
        <p:spPr>
          <a:xfrm rot="19713177" flipH="1">
            <a:off x="3488429" y="3588592"/>
            <a:ext cx="1068418" cy="769668"/>
          </a:xfrm>
          <a:prstGeom prst="curvedLeftArrow">
            <a:avLst>
              <a:gd name="adj1" fmla="val 25000"/>
              <a:gd name="adj2" fmla="val 41543"/>
              <a:gd name="adj3" fmla="val 40618"/>
            </a:avLst>
          </a:prstGeom>
          <a:solidFill>
            <a:srgbClr val="F06A1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708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SITUATION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46572"/>
            <a:ext cx="20002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주유소 운영,
이미 어렵다 —
그런데 더
어려워지고 있다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000375" y="857250"/>
            <a:ext cx="5715000" cy="771525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주유소 사장님들은 매일 두 가지 핵심 자원을 관리해야 합니다: 재고(요소수·휘발유)와 가격. 그러나 이 두 가지 모두 외부 환경에 극도로 취약합니다.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000375" y="1985963"/>
            <a:ext cx="1762106" cy="128587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71825" y="2200275"/>
            <a:ext cx="141920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전국 주유소 수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171825" y="2462808"/>
            <a:ext cx="1419206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100" b="1" kern="0" spc="-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11,500</a:t>
            </a:r>
            <a:r>
              <a:rPr lang="en-US" sz="1200" b="1" kern="0" spc="-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개소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3171825" y="2834283"/>
            <a:ext cx="141920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(2024년 기준)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976794" y="1985963"/>
            <a:ext cx="1762134" cy="128587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48244" y="2200275"/>
            <a:ext cx="141923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주유소 연평균 폐업률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48244" y="2462808"/>
            <a:ext cx="141923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100" b="1" kern="0" spc="-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2~3</a:t>
            </a:r>
            <a:r>
              <a:rPr lang="en-US" sz="1200" b="1" kern="0" spc="-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%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5148244" y="2834283"/>
            <a:ext cx="141923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경쟁 심화로 인한 지속적 감소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6953241" y="1985963"/>
            <a:ext cx="1762134" cy="128587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24691" y="2200275"/>
            <a:ext cx="141923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요소수 취급 주유소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124691" y="2462808"/>
            <a:ext cx="141923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100" b="1" kern="0" spc="-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75</a:t>
            </a:r>
            <a:r>
              <a:rPr lang="en-US" sz="1200" b="1" kern="0" spc="-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%+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7124691" y="2834283"/>
            <a:ext cx="141923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수도권 집중 현상 심각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3000375" y="3629025"/>
            <a:ext cx="5715000" cy="1138647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286125" y="3843338"/>
            <a:ext cx="514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구조적 한계점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286125" y="4121944"/>
            <a:ext cx="514350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국내 주유소 시장은 정유사 브랜드 경쟁, 셀프 주유소 확산, 전기차 보급 확대 등 구조적 변화 속에서 수익성이 지속적으로 악화되고 있습니다. 이러한 상황에서 </a:t>
            </a:r>
            <a:r>
              <a:rPr lang="en-US" sz="9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재고 관리 실패 한 번이 곧바로 고객 이탈과 직결</a:t>
            </a:r>
            <a:r>
              <a:rPr lang="en-US" sz="9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됩니다.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COMPLICATION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95695" y="1167353"/>
            <a:ext cx="2243136" cy="1181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2021년 요소수 대란:
준비 없는 주유소는
고객을 잃었다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000375" y="721519"/>
            <a:ext cx="5715000" cy="70723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2021년 10월, 중국의 요소 수출 제한 조치로 국내 요소수 공급이 갑자기 끊겼습니다. 디젤 차량의 필수품인 요소수 재고가 바닥나면서 전국 주유소에 혼란이 발생했습니다.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000375" y="1714500"/>
            <a:ext cx="2750344" cy="10001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178969" y="1893094"/>
            <a:ext cx="587573" cy="171450"/>
          </a:xfrm>
          <a:prstGeom prst="rect">
            <a:avLst/>
          </a:prstGeom>
          <a:solidFill>
            <a:srgbClr val="FF4B00"/>
          </a:solidFill>
          <a:ln/>
        </p:spPr>
      </p:sp>
      <p:sp>
        <p:nvSpPr>
          <p:cNvPr id="17" name="Text 14"/>
          <p:cNvSpPr/>
          <p:nvPr/>
        </p:nvSpPr>
        <p:spPr>
          <a:xfrm>
            <a:off x="3178969" y="1893094"/>
            <a:ext cx="587573" cy="171450"/>
          </a:xfrm>
          <a:prstGeom prst="rect">
            <a:avLst/>
          </a:prstGeom>
          <a:noFill/>
          <a:ln/>
        </p:spPr>
        <p:txBody>
          <a:bodyPr wrap="none" lIns="85090" tIns="34036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2021. 10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178969" y="2171700"/>
            <a:ext cx="23931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중국 요소 수출 제한 발표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178969" y="2428875"/>
            <a:ext cx="23931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국내 요소수 수입 급감 및 재고 부족 조짐 발생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965031" y="1714500"/>
            <a:ext cx="2750344" cy="10001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43625" y="1893094"/>
            <a:ext cx="567928" cy="171450"/>
          </a:xfrm>
          <a:prstGeom prst="rect">
            <a:avLst/>
          </a:prstGeom>
          <a:solidFill>
            <a:srgbClr val="FF4B00"/>
          </a:solidFill>
          <a:ln/>
        </p:spPr>
      </p:sp>
      <p:sp>
        <p:nvSpPr>
          <p:cNvPr id="22" name="Text 19"/>
          <p:cNvSpPr/>
          <p:nvPr/>
        </p:nvSpPr>
        <p:spPr>
          <a:xfrm>
            <a:off x="6143625" y="1893094"/>
            <a:ext cx="567928" cy="171450"/>
          </a:xfrm>
          <a:prstGeom prst="rect">
            <a:avLst/>
          </a:prstGeom>
          <a:noFill/>
          <a:ln/>
        </p:spPr>
        <p:txBody>
          <a:bodyPr wrap="none" lIns="85090" tIns="34036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2021. 11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143625" y="2171700"/>
            <a:ext cx="23931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전국 주유소 요소수 품절 사태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143625" y="2428875"/>
            <a:ext cx="23931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화물차·버스 운행 차질 등 물류 대란 현실화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000375" y="2928938"/>
            <a:ext cx="2750344" cy="1064419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178969" y="3107531"/>
            <a:ext cx="582216" cy="171450"/>
          </a:xfrm>
          <a:prstGeom prst="rect">
            <a:avLst/>
          </a:prstGeom>
          <a:solidFill>
            <a:srgbClr val="FF4B00"/>
          </a:solidFill>
          <a:ln/>
        </p:spPr>
      </p:sp>
      <p:sp>
        <p:nvSpPr>
          <p:cNvPr id="27" name="Text 24"/>
          <p:cNvSpPr/>
          <p:nvPr/>
        </p:nvSpPr>
        <p:spPr>
          <a:xfrm>
            <a:off x="3178969" y="3107531"/>
            <a:ext cx="582216" cy="171450"/>
          </a:xfrm>
          <a:prstGeom prst="rect">
            <a:avLst/>
          </a:prstGeom>
          <a:noFill/>
          <a:ln/>
        </p:spPr>
        <p:txBody>
          <a:bodyPr wrap="none" lIns="85090" tIns="34036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2021. 12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178969" y="3386138"/>
            <a:ext cx="23931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정부 긴급 수급 안정 대책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178969" y="3643313"/>
            <a:ext cx="23931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공공데이터 포털을 통한 재고 현황 실시간 공개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965031" y="2928938"/>
            <a:ext cx="2750344" cy="1064419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43625" y="3107531"/>
            <a:ext cx="601861" cy="171450"/>
          </a:xfrm>
          <a:prstGeom prst="rect">
            <a:avLst/>
          </a:prstGeom>
          <a:solidFill>
            <a:srgbClr val="FF4B00"/>
          </a:solidFill>
          <a:ln/>
        </p:spPr>
      </p:sp>
      <p:sp>
        <p:nvSpPr>
          <p:cNvPr id="32" name="Text 29"/>
          <p:cNvSpPr/>
          <p:nvPr/>
        </p:nvSpPr>
        <p:spPr>
          <a:xfrm>
            <a:off x="6143625" y="3107531"/>
            <a:ext cx="601861" cy="171450"/>
          </a:xfrm>
          <a:prstGeom prst="rect">
            <a:avLst/>
          </a:prstGeom>
          <a:noFill/>
          <a:ln/>
        </p:spPr>
        <p:txBody>
          <a:bodyPr wrap="none" lIns="85090" tIns="34036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2022. 01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6143625" y="3386138"/>
            <a:ext cx="23931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공급 정상화 및 가격 안정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143625" y="3643313"/>
            <a:ext cx="239315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평균 1,738원/L 수준으로 안정화 (데이터 분석 기준점)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3000375" y="4250531"/>
            <a:ext cx="5715000" cy="857250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86125" y="4464844"/>
            <a:ext cx="582216" cy="185738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핵심 교훈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082653" y="4464844"/>
            <a:ext cx="43469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재고 정보를 실시간으로 파악하지 못한 주유소는 고객 이탈과 매출 손실을 피할 수 없었습니다.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COMPLICATION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71449" y="1146572"/>
            <a:ext cx="2286001" cy="1181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이란-미국 갈등 심화:
제2의 유가 쇼크가
주유소를 위협한다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2928938" y="785813"/>
            <a:ext cx="5857875" cy="47148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2021년 요소수 대란이 채 잊히기도 전에, 새로운 공급망 리스크가 국내 주유소를 위협하고 있습니다.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928938" y="1471613"/>
            <a:ext cx="1857375" cy="128587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71813" y="1614488"/>
            <a:ext cx="15716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071813" y="1903809"/>
            <a:ext cx="1571625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이란-미국
갈등 심화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071813" y="2309552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호르무즈 해협 봉쇄 위협, 중동 원유 수출 불확실성 증가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929188" y="1471613"/>
            <a:ext cx="1857375" cy="128587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72063" y="1614488"/>
            <a:ext cx="15716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72063" y="1903809"/>
            <a:ext cx="1571625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원유 공급망
불확실성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72063" y="2309552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OPEC+ 감산 기조 지속, 글로벌 원유 재고 감소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6929438" y="1471613"/>
            <a:ext cx="1857375" cy="128587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72313" y="1614488"/>
            <a:ext cx="15716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072313" y="1903809"/>
            <a:ext cx="1571625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국제유가
변동성 확대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072313" y="2309552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WTI 기준 ±20달러/배럴 변동폭 일상화 및 예측 불가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2928938" y="2971800"/>
            <a:ext cx="58578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연쇄 영향 흐름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2928938" y="3178969"/>
            <a:ext cx="5857875" cy="64293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071813" y="3393281"/>
            <a:ext cx="896541" cy="357188"/>
          </a:xfrm>
          <a:prstGeom prst="rect">
            <a:avLst/>
          </a:prstGeom>
          <a:solidFill>
            <a:srgbClr val="F4F4F6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43250" y="3542574"/>
            <a:ext cx="52506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중동 리스크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668316" y="3542574"/>
            <a:ext cx="2000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확대</a:t>
            </a:r>
            <a:endParaRPr lang="en-US" sz="70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8891" y="3511153"/>
            <a:ext cx="100013" cy="114300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4138017" y="3393281"/>
            <a:ext cx="796528" cy="357188"/>
          </a:xfrm>
          <a:prstGeom prst="rect">
            <a:avLst/>
          </a:prstGeom>
          <a:solidFill>
            <a:srgbClr val="F4F4F6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216598" y="3542574"/>
            <a:ext cx="42505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원유 공급</a:t>
            </a:r>
            <a:endParaRPr lang="en-US" sz="700" dirty="0"/>
          </a:p>
        </p:txBody>
      </p:sp>
      <p:sp>
        <p:nvSpPr>
          <p:cNvPr id="35" name="Text 31"/>
          <p:cNvSpPr/>
          <p:nvPr/>
        </p:nvSpPr>
        <p:spPr>
          <a:xfrm>
            <a:off x="4641652" y="3542574"/>
            <a:ext cx="2000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불안</a:t>
            </a:r>
            <a:endParaRPr lang="en-US" sz="700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799" y="3511153"/>
            <a:ext cx="100013" cy="114300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5118497" y="3393281"/>
            <a:ext cx="771525" cy="357188"/>
          </a:xfrm>
          <a:prstGeom prst="rect">
            <a:avLst/>
          </a:prstGeom>
          <a:solidFill>
            <a:srgbClr val="F4F4F6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204222" y="3542574"/>
            <a:ext cx="40005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국제유가</a:t>
            </a:r>
            <a:endParaRPr lang="en-US" sz="700" dirty="0"/>
          </a:p>
        </p:txBody>
      </p:sp>
      <p:sp>
        <p:nvSpPr>
          <p:cNvPr id="39" name="Text 34"/>
          <p:cNvSpPr/>
          <p:nvPr/>
        </p:nvSpPr>
        <p:spPr>
          <a:xfrm>
            <a:off x="5604272" y="3542574"/>
            <a:ext cx="2000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급등</a:t>
            </a:r>
            <a:endParaRPr lang="en-US" sz="70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991" y="3511153"/>
            <a:ext cx="100013" cy="114300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6088261" y="3393281"/>
            <a:ext cx="1121569" cy="357188"/>
          </a:xfrm>
          <a:prstGeom prst="rect">
            <a:avLst/>
          </a:prstGeom>
          <a:solidFill>
            <a:srgbClr val="F4F4F6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181130" y="3542574"/>
            <a:ext cx="52506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국내 휘발유</a:t>
            </a:r>
            <a:endParaRPr lang="en-US" sz="700" dirty="0"/>
          </a:p>
        </p:txBody>
      </p:sp>
      <p:sp>
        <p:nvSpPr>
          <p:cNvPr id="43" name="Text 37"/>
          <p:cNvSpPr/>
          <p:nvPr/>
        </p:nvSpPr>
        <p:spPr>
          <a:xfrm>
            <a:off x="6706195" y="3542574"/>
            <a:ext cx="42505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가격 상승</a:t>
            </a:r>
            <a:endParaRPr lang="en-US" sz="70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515" y="3511153"/>
            <a:ext cx="100013" cy="114300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7422356" y="3393281"/>
            <a:ext cx="1221581" cy="357188"/>
          </a:xfrm>
          <a:prstGeom prst="rect">
            <a:avLst/>
          </a:prstGeom>
          <a:solidFill>
            <a:srgbClr val="FFF0EB"/>
          </a:solidFill>
          <a:ln w="18288">
            <a:solidFill>
              <a:srgbClr val="FF4B00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7522369" y="3542574"/>
            <a:ext cx="52506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주유소 운영</a:t>
            </a:r>
            <a:endParaRPr lang="en-US" sz="700" dirty="0"/>
          </a:p>
        </p:txBody>
      </p:sp>
      <p:sp>
        <p:nvSpPr>
          <p:cNvPr id="47" name="Text 40"/>
          <p:cNvSpPr/>
          <p:nvPr/>
        </p:nvSpPr>
        <p:spPr>
          <a:xfrm>
            <a:off x="8047434" y="3542574"/>
            <a:ext cx="525066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리스크 확대</a:t>
            </a:r>
            <a:endParaRPr lang="en-US" sz="700" dirty="0"/>
          </a:p>
        </p:txBody>
      </p:sp>
      <p:sp>
        <p:nvSpPr>
          <p:cNvPr id="48" name="Shape 41"/>
          <p:cNvSpPr/>
          <p:nvPr/>
        </p:nvSpPr>
        <p:spPr>
          <a:xfrm>
            <a:off x="2928938" y="4036219"/>
            <a:ext cx="5857875" cy="571500"/>
          </a:xfrm>
          <a:prstGeom prst="rect">
            <a:avLst/>
          </a:prstGeom>
          <a:solidFill>
            <a:srgbClr val="FF4B00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143250" y="4193381"/>
            <a:ext cx="5429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핵심 인사이트: 유가가 안정적일 때보다 </a:t>
            </a:r>
            <a:r>
              <a:rPr lang="en-US" sz="10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급등하는 시기에 재고 관리 시스템의 가치</a:t>
            </a: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는 더욱 커집니다.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QUESTION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46572"/>
            <a:ext cx="20002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위기는 반복된다 —
준비된 주유소만
살아남는다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000375" y="714375"/>
            <a:ext cx="5715000" cy="78581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43250" y="607219"/>
            <a:ext cx="301516" cy="28575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16" name="Text 13"/>
          <p:cNvSpPr/>
          <p:nvPr/>
        </p:nvSpPr>
        <p:spPr>
          <a:xfrm>
            <a:off x="3143250" y="607219"/>
            <a:ext cx="301516" cy="285750"/>
          </a:xfrm>
          <a:prstGeom prst="rect">
            <a:avLst/>
          </a:prstGeom>
          <a:noFill/>
          <a:ln/>
        </p:spPr>
        <p:txBody>
          <a:bodyPr wrap="none" lIns="85090" tIns="0" rIns="8509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FF4B00"/>
                </a:solidFill>
                <a:latin typeface="serif" pitchFamily="34" charset="0"/>
                <a:ea typeface="serif" pitchFamily="34" charset="-122"/>
                <a:cs typeface="serif" pitchFamily="34" charset="-120"/>
              </a:rPr>
              <a:t>"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214688" y="892969"/>
            <a:ext cx="5286375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요소수 대란과 유가 급등이 반복되는 시대에,
주유소 사장님은 어떻게 선제적으로 대응할 수 있을까?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000375" y="1785938"/>
            <a:ext cx="5715000" cy="242887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375" y="1857375"/>
            <a:ext cx="5715000" cy="235743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000375" y="4429125"/>
            <a:ext cx="5715000" cy="607219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214688" y="4607719"/>
            <a:ext cx="5179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409355" y="4607719"/>
            <a:ext cx="407015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유가 급등기에는 재고 관리 시스템의 </a:t>
            </a:r>
            <a:r>
              <a:rPr lang="en-US" sz="10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ROI가 3배 이상 증가</a:t>
            </a: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합니다.
지금이 도입 최적의 시기입니다.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55502"/>
            <a:ext cx="20002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FUEL LINK:
데이터로 주유소 경영을 혁신하는
AI 플랫폼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000375" y="714375"/>
            <a:ext cx="5715000" cy="857250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86125" y="1094417"/>
            <a:ext cx="471130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주유소의 재고 관리와 가격 관리를 데이터 기반으로 혁신한다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000375" y="1785938"/>
            <a:ext cx="2786063" cy="110192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14688" y="1928813"/>
            <a:ext cx="228600" cy="196453"/>
          </a:xfrm>
          <a:prstGeom prst="rect">
            <a:avLst/>
          </a:prstGeom>
          <a:noFill/>
          <a:ln/>
        </p:spPr>
        <p:txBody>
          <a:bodyPr wrap="none" lIns="0" tIns="0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214688" y="2232422"/>
            <a:ext cx="235743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요소수 재고관리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214688" y="2516386"/>
            <a:ext cx="2357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실시간 재고 현황 모니터링 및 자동 발주 시스템 연동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929313" y="1785938"/>
            <a:ext cx="2786063" cy="110192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43625" y="1928813"/>
            <a:ext cx="250031" cy="196453"/>
          </a:xfrm>
          <a:prstGeom prst="rect">
            <a:avLst/>
          </a:prstGeom>
          <a:noFill/>
          <a:ln/>
        </p:spPr>
        <p:txBody>
          <a:bodyPr wrap="none" lIns="0" tIns="0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43625" y="2232422"/>
            <a:ext cx="235743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휘발유 재고관리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143625" y="2516386"/>
            <a:ext cx="2357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유가 변동성 연동 재고 최적화 AI 알고리즘 적용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000375" y="3002161"/>
            <a:ext cx="2786063" cy="110192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14688" y="3145036"/>
            <a:ext cx="251817" cy="196453"/>
          </a:xfrm>
          <a:prstGeom prst="rect">
            <a:avLst/>
          </a:prstGeom>
          <a:noFill/>
          <a:ln/>
        </p:spPr>
        <p:txBody>
          <a:bodyPr wrap="none" lIns="0" tIns="0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214688" y="3448645"/>
            <a:ext cx="235743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주변 주유소 가격 비교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214688" y="3732609"/>
            <a:ext cx="2357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반경 5km 내 경쟁사 가격 실시간 조회 및 분석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929313" y="3002161"/>
            <a:ext cx="2786063" cy="110192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43625" y="3145036"/>
            <a:ext cx="255389" cy="196453"/>
          </a:xfrm>
          <a:prstGeom prst="rect">
            <a:avLst/>
          </a:prstGeom>
          <a:noFill/>
          <a:ln/>
        </p:spPr>
        <p:txBody>
          <a:bodyPr wrap="none" lIns="0" tIns="0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143625" y="3448645"/>
            <a:ext cx="235743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고객 대상 실시간 정보 제공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143625" y="3732609"/>
            <a:ext cx="2357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재고 및 가격 정보를 고객 전용 앱을 통해 즉시 공유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000375" y="4830961"/>
            <a:ext cx="5715000" cy="31253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FUEL LINK 팀 | AI 기반 스마트 주유소 운영 플랫폼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CORE STRUCTURE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46572"/>
            <a:ext cx="2000250" cy="1337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비용 절감과
매출 증대를
동시에 달성하는
이중 기능 구조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000375" y="857250"/>
            <a:ext cx="2714625" cy="27146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14688" y="1028700"/>
            <a:ext cx="22860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관리 기능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214688" y="1355527"/>
            <a:ext cx="2286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비용 절감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214688" y="1785938"/>
            <a:ext cx="228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자동 발주 시스템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14688" y="2014538"/>
            <a:ext cx="2286000" cy="150019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재고량 30% 이하 시 자동 발주 트리거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214688" y="2343150"/>
            <a:ext cx="228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유가 정보 수집 기능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214688" y="2571750"/>
            <a:ext cx="2286000" cy="150019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오피넷 API 연동, 실시간 가격 모니터링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214688" y="2900363"/>
            <a:ext cx="228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재고 이력 관리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214688" y="3128963"/>
            <a:ext cx="2286000" cy="150019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월별·분기별 재고 소진 패턴 분석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000750" y="857250"/>
            <a:ext cx="2714625" cy="27146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00750" y="857250"/>
            <a:ext cx="2714625" cy="7143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22"/>
          <p:cNvSpPr/>
          <p:nvPr/>
        </p:nvSpPr>
        <p:spPr>
          <a:xfrm>
            <a:off x="6000750" y="1557338"/>
            <a:ext cx="271462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Text 23"/>
          <p:cNvSpPr/>
          <p:nvPr/>
        </p:nvSpPr>
        <p:spPr>
          <a:xfrm>
            <a:off x="6215063" y="1028700"/>
            <a:ext cx="2286000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매출 기능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215063" y="1355527"/>
            <a:ext cx="22860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수익 증대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215063" y="1785938"/>
            <a:ext cx="228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입고 알람 시스템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215063" y="2014538"/>
            <a:ext cx="2286000" cy="150019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요소수·휘발유 입고 시 고객 푸시 알림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215063" y="2343150"/>
            <a:ext cx="228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포인트 적립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215063" y="2571750"/>
            <a:ext cx="2286000" cy="150019"/>
          </a:xfrm>
          <a:prstGeom prst="rect">
            <a:avLst/>
          </a:prstGeom>
          <a:noFill/>
          <a:ln/>
        </p:spPr>
        <p:txBody>
          <a:bodyPr wrap="none" lIns="187071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고객 재방문율 향상을 위한 로열티 프로그램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215063" y="2900363"/>
            <a:ext cx="228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차량 관리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215063" y="3128963"/>
            <a:ext cx="2286000" cy="300038"/>
          </a:xfrm>
          <a:prstGeom prst="rect">
            <a:avLst/>
          </a:prstGeom>
          <a:noFill/>
          <a:ln/>
        </p:spPr>
        <p:txBody>
          <a:bodyPr wrap="square" lIns="187071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마지막 요소수 보충일 체크 및 주기적 알림 발송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000375" y="3857625"/>
            <a:ext cx="5715000" cy="714375"/>
          </a:xfrm>
          <a:prstGeom prst="rect">
            <a:avLst/>
          </a:prstGeom>
          <a:solidFill>
            <a:srgbClr val="FF4B00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14688" y="4036219"/>
            <a:ext cx="842963" cy="2857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14688" y="4036219"/>
            <a:ext cx="842963" cy="285750"/>
          </a:xfrm>
          <a:prstGeom prst="rect">
            <a:avLst/>
          </a:prstGeom>
          <a:noFill/>
          <a:ln/>
        </p:spPr>
        <p:txBody>
          <a:bodyPr wrap="none" lIns="127508" tIns="68072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핵심 차별점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200525" y="4036219"/>
            <a:ext cx="4300538" cy="535781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단순 재고 관리를 넘어 </a:t>
            </a: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고객 관계 관리(CRM)</a:t>
            </a:r>
            <a:r>
              <a:rPr lang="en-US" sz="10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까지 통합한 올인원 플랫폼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DATA ANALYSIS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46572"/>
            <a:ext cx="2000250" cy="1954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9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전국 200개 주유소
데이터 분석:
44%가 재고 부족·
품절 상태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2928938" y="714375"/>
            <a:ext cx="5857875" cy="21431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8938" y="785813"/>
            <a:ext cx="5857875" cy="207168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928938" y="3071813"/>
            <a:ext cx="1833544" cy="78581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071813" y="3214688"/>
            <a:ext cx="154779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재고 여유 (GREEN)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3071813" y="3421856"/>
            <a:ext cx="564356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112</a:t>
            </a:r>
            <a:r>
              <a:rPr lang="en-US" sz="9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개소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287422" y="3534370"/>
            <a:ext cx="33218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666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56.0%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941075" y="3071813"/>
            <a:ext cx="1833572" cy="78581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083950" y="3214688"/>
            <a:ext cx="154782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재고 보통 (YELLOW)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5083950" y="3421856"/>
            <a:ext cx="5143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64</a:t>
            </a:r>
            <a:r>
              <a:rPr lang="en-US" sz="9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개소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301374" y="3534370"/>
            <a:ext cx="33039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666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32.0%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6953241" y="3071813"/>
            <a:ext cx="1833544" cy="785813"/>
          </a:xfrm>
          <a:prstGeom prst="rect">
            <a:avLst/>
          </a:prstGeom>
          <a:solidFill>
            <a:srgbClr val="FFFFFF"/>
          </a:solidFill>
          <a:ln w="18288">
            <a:solidFill>
              <a:srgbClr val="FF4B0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096116" y="3214688"/>
            <a:ext cx="154779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재고 부족·품절 (RED+GRAY)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7096116" y="3421856"/>
            <a:ext cx="50542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kern="0" spc="-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24</a:t>
            </a:r>
            <a:r>
              <a:rPr lang="en-US" sz="900" b="1" kern="0" spc="-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개소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8331371" y="3534370"/>
            <a:ext cx="31253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666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12.0%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2928938" y="4071938"/>
            <a:ext cx="5857875" cy="800100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143250" y="4250531"/>
            <a:ext cx="542925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분석 인사이트</a:t>
            </a:r>
            <a:endParaRPr lang="en-US" sz="700" dirty="0"/>
          </a:p>
        </p:txBody>
      </p:sp>
      <p:sp>
        <p:nvSpPr>
          <p:cNvPr id="30" name="Text 26"/>
          <p:cNvSpPr/>
          <p:nvPr/>
        </p:nvSpPr>
        <p:spPr>
          <a:xfrm>
            <a:off x="3143250" y="4471988"/>
            <a:ext cx="41969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전체의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3562945" y="4471988"/>
            <a:ext cx="166985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44%에 해당하는 88개 주유소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232797" y="4471988"/>
            <a:ext cx="200203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가 재고 관리 위험 구간에 있습니다.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3143250" y="4664869"/>
            <a:ext cx="246459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이들이 FUEL LINK의 핵심 타겟 고객입니다.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5679281" y="4681835"/>
            <a:ext cx="937617" cy="157163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5" name="Text 31"/>
          <p:cNvSpPr/>
          <p:nvPr/>
        </p:nvSpPr>
        <p:spPr>
          <a:xfrm>
            <a:off x="5679281" y="4681835"/>
            <a:ext cx="937617" cy="157163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평균 재고량: 1,371.3L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TARGET ANALYSIS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46572"/>
            <a:ext cx="2000250" cy="162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9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요소수 주유소의
75%가 수도권 집중
— 지방은 공급
공백 상태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3000375" y="714375"/>
            <a:ext cx="5715000" cy="242887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577" y="857250"/>
            <a:ext cx="3340596" cy="2214563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000375" y="3429000"/>
            <a:ext cx="2750344" cy="14573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000375" y="3429000"/>
            <a:ext cx="998227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4"/>
          <p:cNvSpPr/>
          <p:nvPr/>
        </p:nvSpPr>
        <p:spPr>
          <a:xfrm>
            <a:off x="3000375" y="3429000"/>
            <a:ext cx="998227" cy="285750"/>
          </a:xfrm>
          <a:prstGeom prst="rect">
            <a:avLst/>
          </a:prstGeom>
          <a:noFill/>
          <a:ln/>
        </p:spPr>
        <p:txBody>
          <a:bodyPr wrap="none" lIns="170053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지역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3998602" y="3429000"/>
            <a:ext cx="1007157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6"/>
          <p:cNvSpPr/>
          <p:nvPr/>
        </p:nvSpPr>
        <p:spPr>
          <a:xfrm>
            <a:off x="3998602" y="3429000"/>
            <a:ext cx="1007157" cy="285750"/>
          </a:xfrm>
          <a:prstGeom prst="rect">
            <a:avLst/>
          </a:prstGeom>
          <a:noFill/>
          <a:ln/>
        </p:spPr>
        <p:txBody>
          <a:bodyPr wrap="none" lIns="170053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주유소 수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5005760" y="3429000"/>
            <a:ext cx="744959" cy="2857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18"/>
          <p:cNvSpPr/>
          <p:nvPr/>
        </p:nvSpPr>
        <p:spPr>
          <a:xfrm>
            <a:off x="5005760" y="3429000"/>
            <a:ext cx="744959" cy="285750"/>
          </a:xfrm>
          <a:prstGeom prst="rect">
            <a:avLst/>
          </a:prstGeom>
          <a:noFill/>
          <a:ln/>
        </p:spPr>
        <p:txBody>
          <a:bodyPr wrap="none" lIns="170053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비율</a:t>
            </a:r>
            <a:endParaRPr lang="en-US" sz="700" dirty="0"/>
          </a:p>
        </p:txBody>
      </p:sp>
      <p:sp>
        <p:nvSpPr>
          <p:cNvPr id="23" name="Shape 19"/>
          <p:cNvSpPr/>
          <p:nvPr/>
        </p:nvSpPr>
        <p:spPr>
          <a:xfrm>
            <a:off x="3000375" y="3714750"/>
            <a:ext cx="998227" cy="285750"/>
          </a:xfrm>
          <a:prstGeom prst="rect">
            <a:avLst/>
          </a:prstGeom>
          <a:solidFill>
            <a:srgbClr val="FFF0EB"/>
          </a:solidFill>
          <a:ln/>
        </p:spPr>
      </p:sp>
      <p:sp>
        <p:nvSpPr>
          <p:cNvPr id="24" name="Shape 20"/>
          <p:cNvSpPr/>
          <p:nvPr/>
        </p:nvSpPr>
        <p:spPr>
          <a:xfrm>
            <a:off x="3000375" y="3993356"/>
            <a:ext cx="998227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Text 21"/>
          <p:cNvSpPr/>
          <p:nvPr/>
        </p:nvSpPr>
        <p:spPr>
          <a:xfrm>
            <a:off x="3000375" y="3714750"/>
            <a:ext cx="998227" cy="285750"/>
          </a:xfrm>
          <a:prstGeom prst="rect">
            <a:avLst/>
          </a:prstGeom>
          <a:noFill/>
          <a:ln/>
        </p:spPr>
        <p:txBody>
          <a:bodyPr wrap="none" lIns="170053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경기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3998602" y="3714750"/>
            <a:ext cx="1007157" cy="285750"/>
          </a:xfrm>
          <a:prstGeom prst="rect">
            <a:avLst/>
          </a:prstGeom>
          <a:solidFill>
            <a:srgbClr val="FFF0EB"/>
          </a:solidFill>
          <a:ln/>
        </p:spPr>
      </p:sp>
      <p:sp>
        <p:nvSpPr>
          <p:cNvPr id="27" name="Shape 23"/>
          <p:cNvSpPr/>
          <p:nvPr/>
        </p:nvSpPr>
        <p:spPr>
          <a:xfrm>
            <a:off x="3998602" y="3993356"/>
            <a:ext cx="1007157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4"/>
          <p:cNvSpPr/>
          <p:nvPr/>
        </p:nvSpPr>
        <p:spPr>
          <a:xfrm>
            <a:off x="3998602" y="3714750"/>
            <a:ext cx="1007157" cy="285750"/>
          </a:xfrm>
          <a:prstGeom prst="rect">
            <a:avLst/>
          </a:prstGeom>
          <a:noFill/>
          <a:ln/>
        </p:spPr>
        <p:txBody>
          <a:bodyPr wrap="none" lIns="170053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150개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5005760" y="3714750"/>
            <a:ext cx="744959" cy="285750"/>
          </a:xfrm>
          <a:prstGeom prst="rect">
            <a:avLst/>
          </a:prstGeom>
          <a:solidFill>
            <a:srgbClr val="FFF0EB"/>
          </a:solidFill>
          <a:ln/>
        </p:spPr>
      </p:sp>
      <p:sp>
        <p:nvSpPr>
          <p:cNvPr id="30" name="Shape 26"/>
          <p:cNvSpPr/>
          <p:nvPr/>
        </p:nvSpPr>
        <p:spPr>
          <a:xfrm>
            <a:off x="5005760" y="3993356"/>
            <a:ext cx="744959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7"/>
          <p:cNvSpPr/>
          <p:nvPr/>
        </p:nvSpPr>
        <p:spPr>
          <a:xfrm>
            <a:off x="5005760" y="3714750"/>
            <a:ext cx="744959" cy="285750"/>
          </a:xfrm>
          <a:prstGeom prst="rect">
            <a:avLst/>
          </a:prstGeom>
          <a:noFill/>
          <a:ln/>
        </p:spPr>
        <p:txBody>
          <a:bodyPr wrap="none" lIns="170053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75.0%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3000375" y="4000500"/>
            <a:ext cx="998227" cy="285750"/>
          </a:xfrm>
          <a:prstGeom prst="rect">
            <a:avLst/>
          </a:prstGeom>
          <a:noFill/>
          <a:ln/>
        </p:spPr>
        <p:txBody>
          <a:bodyPr wrap="none" lIns="170053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인천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3998602" y="4000500"/>
            <a:ext cx="1007157" cy="285750"/>
          </a:xfrm>
          <a:prstGeom prst="rect">
            <a:avLst/>
          </a:prstGeom>
          <a:noFill/>
          <a:ln/>
        </p:spPr>
        <p:txBody>
          <a:bodyPr wrap="none" lIns="170053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26개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5005760" y="4000500"/>
            <a:ext cx="744959" cy="285750"/>
          </a:xfrm>
          <a:prstGeom prst="rect">
            <a:avLst/>
          </a:prstGeom>
          <a:noFill/>
          <a:ln/>
        </p:spPr>
        <p:txBody>
          <a:bodyPr wrap="none" lIns="170053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13.0%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3000375" y="4286250"/>
            <a:ext cx="998227" cy="285750"/>
          </a:xfrm>
          <a:prstGeom prst="rect">
            <a:avLst/>
          </a:prstGeom>
          <a:noFill/>
          <a:ln/>
        </p:spPr>
        <p:txBody>
          <a:bodyPr wrap="none" lIns="170053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충남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3998602" y="4286250"/>
            <a:ext cx="1007157" cy="285750"/>
          </a:xfrm>
          <a:prstGeom prst="rect">
            <a:avLst/>
          </a:prstGeom>
          <a:noFill/>
          <a:ln/>
        </p:spPr>
        <p:txBody>
          <a:bodyPr wrap="none" lIns="170053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10개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5005760" y="4286250"/>
            <a:ext cx="744959" cy="285750"/>
          </a:xfrm>
          <a:prstGeom prst="rect">
            <a:avLst/>
          </a:prstGeom>
          <a:noFill/>
          <a:ln/>
        </p:spPr>
        <p:txBody>
          <a:bodyPr wrap="none" lIns="170053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5.0%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3000375" y="4572000"/>
            <a:ext cx="998227" cy="285750"/>
          </a:xfrm>
          <a:prstGeom prst="rect">
            <a:avLst/>
          </a:prstGeom>
          <a:noFill/>
          <a:ln/>
        </p:spPr>
        <p:txBody>
          <a:bodyPr wrap="none" lIns="170053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기타 지방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3998602" y="4572000"/>
            <a:ext cx="1007157" cy="285750"/>
          </a:xfrm>
          <a:prstGeom prst="rect">
            <a:avLst/>
          </a:prstGeom>
          <a:noFill/>
          <a:ln/>
        </p:spPr>
        <p:txBody>
          <a:bodyPr wrap="none" lIns="170053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14개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5005760" y="4572000"/>
            <a:ext cx="744959" cy="285750"/>
          </a:xfrm>
          <a:prstGeom prst="rect">
            <a:avLst/>
          </a:prstGeom>
          <a:noFill/>
          <a:ln/>
        </p:spPr>
        <p:txBody>
          <a:bodyPr wrap="none" lIns="170053" tIns="102108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7.0%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5965031" y="3429000"/>
            <a:ext cx="2750344" cy="1428750"/>
          </a:xfrm>
          <a:prstGeom prst="rect">
            <a:avLst/>
          </a:prstGeom>
          <a:solidFill>
            <a:srgbClr val="FF4B00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179344" y="3607594"/>
            <a:ext cx="492919" cy="1857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39"/>
          <p:cNvSpPr/>
          <p:nvPr/>
        </p:nvSpPr>
        <p:spPr>
          <a:xfrm>
            <a:off x="6179344" y="3607594"/>
            <a:ext cx="492919" cy="185738"/>
          </a:xfrm>
          <a:prstGeom prst="rect">
            <a:avLst/>
          </a:prstGeom>
          <a:noFill/>
          <a:ln/>
        </p:spPr>
        <p:txBody>
          <a:bodyPr wrap="none" lIns="102108" tIns="34036" rIns="102108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시사점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6179344" y="3900488"/>
            <a:ext cx="2321719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지방 주유소는 요소수 공급망에서 소외되어 있어, 재고 관리 플랫폼 도입 시 가장 큰 수혜를 받을 수 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CORRELATION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46572"/>
            <a:ext cx="20002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가격과 재고는
독립적 —
두 변수를 동시에
관리해야 한다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000375" y="857250"/>
            <a:ext cx="5715000" cy="174307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000375" y="857250"/>
            <a:ext cx="1926357" cy="428625"/>
          </a:xfrm>
          <a:prstGeom prst="rect">
            <a:avLst/>
          </a:prstGeom>
          <a:solidFill>
            <a:srgbClr val="FF4B00"/>
          </a:solidFill>
          <a:ln/>
        </p:spPr>
      </p:sp>
      <p:sp>
        <p:nvSpPr>
          <p:cNvPr id="16" name="Shape 13"/>
          <p:cNvSpPr/>
          <p:nvPr/>
        </p:nvSpPr>
        <p:spPr>
          <a:xfrm>
            <a:off x="4912444" y="857250"/>
            <a:ext cx="14288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4"/>
          <p:cNvSpPr/>
          <p:nvPr/>
        </p:nvSpPr>
        <p:spPr>
          <a:xfrm>
            <a:off x="3000375" y="1271588"/>
            <a:ext cx="1926357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5"/>
          <p:cNvSpPr/>
          <p:nvPr/>
        </p:nvSpPr>
        <p:spPr>
          <a:xfrm>
            <a:off x="3000375" y="857250"/>
            <a:ext cx="19263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지표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926732" y="857250"/>
            <a:ext cx="1049155" cy="428625"/>
          </a:xfrm>
          <a:prstGeom prst="rect">
            <a:avLst/>
          </a:prstGeom>
          <a:solidFill>
            <a:srgbClr val="FF4B00"/>
          </a:solidFill>
          <a:ln/>
        </p:spPr>
      </p:sp>
      <p:sp>
        <p:nvSpPr>
          <p:cNvPr id="20" name="Shape 17"/>
          <p:cNvSpPr/>
          <p:nvPr/>
        </p:nvSpPr>
        <p:spPr>
          <a:xfrm>
            <a:off x="5961599" y="857250"/>
            <a:ext cx="14288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Shape 18"/>
          <p:cNvSpPr/>
          <p:nvPr/>
        </p:nvSpPr>
        <p:spPr>
          <a:xfrm>
            <a:off x="4926732" y="1271588"/>
            <a:ext cx="104915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Shape 19"/>
          <p:cNvSpPr/>
          <p:nvPr/>
        </p:nvSpPr>
        <p:spPr>
          <a:xfrm>
            <a:off x="4926732" y="857250"/>
            <a:ext cx="14288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0"/>
          <p:cNvSpPr/>
          <p:nvPr/>
        </p:nvSpPr>
        <p:spPr>
          <a:xfrm>
            <a:off x="4926732" y="857250"/>
            <a:ext cx="104915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최솟값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975886" y="857250"/>
            <a:ext cx="1658243" cy="428625"/>
          </a:xfrm>
          <a:prstGeom prst="rect">
            <a:avLst/>
          </a:prstGeom>
          <a:solidFill>
            <a:srgbClr val="FF4B00"/>
          </a:solidFill>
          <a:ln/>
        </p:spPr>
      </p:sp>
      <p:sp>
        <p:nvSpPr>
          <p:cNvPr id="25" name="Shape 22"/>
          <p:cNvSpPr/>
          <p:nvPr/>
        </p:nvSpPr>
        <p:spPr>
          <a:xfrm>
            <a:off x="7619842" y="857250"/>
            <a:ext cx="14288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Shape 23"/>
          <p:cNvSpPr/>
          <p:nvPr/>
        </p:nvSpPr>
        <p:spPr>
          <a:xfrm>
            <a:off x="5975886" y="1271588"/>
            <a:ext cx="1658243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Shape 24"/>
          <p:cNvSpPr/>
          <p:nvPr/>
        </p:nvSpPr>
        <p:spPr>
          <a:xfrm>
            <a:off x="5975886" y="857250"/>
            <a:ext cx="14288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Text 25"/>
          <p:cNvSpPr/>
          <p:nvPr/>
        </p:nvSpPr>
        <p:spPr>
          <a:xfrm>
            <a:off x="5975886" y="857250"/>
            <a:ext cx="165824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평균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634129" y="857250"/>
            <a:ext cx="1081246" cy="428625"/>
          </a:xfrm>
          <a:prstGeom prst="rect">
            <a:avLst/>
          </a:prstGeom>
          <a:solidFill>
            <a:srgbClr val="FF4B00"/>
          </a:solidFill>
          <a:ln/>
        </p:spPr>
      </p:sp>
      <p:sp>
        <p:nvSpPr>
          <p:cNvPr id="30" name="Shape 27"/>
          <p:cNvSpPr/>
          <p:nvPr/>
        </p:nvSpPr>
        <p:spPr>
          <a:xfrm>
            <a:off x="7634129" y="1271588"/>
            <a:ext cx="1081246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Shape 28"/>
          <p:cNvSpPr/>
          <p:nvPr/>
        </p:nvSpPr>
        <p:spPr>
          <a:xfrm>
            <a:off x="7634129" y="857250"/>
            <a:ext cx="14288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Text 29"/>
          <p:cNvSpPr/>
          <p:nvPr/>
        </p:nvSpPr>
        <p:spPr>
          <a:xfrm>
            <a:off x="7634129" y="857250"/>
            <a:ext cx="1081246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최댓값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000375" y="1285875"/>
            <a:ext cx="1926357" cy="642938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34" name="Shape 31"/>
          <p:cNvSpPr/>
          <p:nvPr/>
        </p:nvSpPr>
        <p:spPr>
          <a:xfrm>
            <a:off x="3000375" y="1285875"/>
            <a:ext cx="1926357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5" name="Shape 32"/>
          <p:cNvSpPr/>
          <p:nvPr/>
        </p:nvSpPr>
        <p:spPr>
          <a:xfrm>
            <a:off x="4912444" y="1285875"/>
            <a:ext cx="14288" cy="64293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Shape 33"/>
          <p:cNvSpPr/>
          <p:nvPr/>
        </p:nvSpPr>
        <p:spPr>
          <a:xfrm>
            <a:off x="3000375" y="1914525"/>
            <a:ext cx="1926357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7" name="Text 34"/>
          <p:cNvSpPr/>
          <p:nvPr/>
        </p:nvSpPr>
        <p:spPr>
          <a:xfrm>
            <a:off x="3000375" y="1285875"/>
            <a:ext cx="1926357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요소수 가격 (원/L)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926732" y="1285875"/>
            <a:ext cx="1049155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1,000원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975886" y="1285875"/>
            <a:ext cx="1658243" cy="642938"/>
          </a:xfrm>
          <a:prstGeom prst="rect">
            <a:avLst/>
          </a:prstGeom>
          <a:solidFill>
            <a:srgbClr val="FF4B00">
              <a:alpha val="5000"/>
            </a:srgbClr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975886" y="1285875"/>
            <a:ext cx="165824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1,738.5원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634129" y="1285875"/>
            <a:ext cx="1081246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3,000원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3000375" y="1928813"/>
            <a:ext cx="1926357" cy="642938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43" name="Shape 40"/>
          <p:cNvSpPr/>
          <p:nvPr/>
        </p:nvSpPr>
        <p:spPr>
          <a:xfrm>
            <a:off x="3000375" y="1928813"/>
            <a:ext cx="1926357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4" name="Shape 41"/>
          <p:cNvSpPr/>
          <p:nvPr/>
        </p:nvSpPr>
        <p:spPr>
          <a:xfrm>
            <a:off x="4912444" y="1928813"/>
            <a:ext cx="14288" cy="64293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5" name="Text 42"/>
          <p:cNvSpPr/>
          <p:nvPr/>
        </p:nvSpPr>
        <p:spPr>
          <a:xfrm>
            <a:off x="3000375" y="1928813"/>
            <a:ext cx="1926357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요소수 재고량 (L)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926732" y="1928813"/>
            <a:ext cx="1049155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0L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975886" y="1928813"/>
            <a:ext cx="1658243" cy="642938"/>
          </a:xfrm>
          <a:prstGeom prst="rect">
            <a:avLst/>
          </a:prstGeom>
          <a:solidFill>
            <a:srgbClr val="FF4B00">
              <a:alpha val="5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5975886" y="1928813"/>
            <a:ext cx="1658243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9" name="Shape 46"/>
          <p:cNvSpPr/>
          <p:nvPr/>
        </p:nvSpPr>
        <p:spPr>
          <a:xfrm>
            <a:off x="7619842" y="1928813"/>
            <a:ext cx="14288" cy="64293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0" name="Shape 47"/>
          <p:cNvSpPr/>
          <p:nvPr/>
        </p:nvSpPr>
        <p:spPr>
          <a:xfrm>
            <a:off x="5975886" y="1928813"/>
            <a:ext cx="14288" cy="64293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1" name="Text 48"/>
          <p:cNvSpPr/>
          <p:nvPr/>
        </p:nvSpPr>
        <p:spPr>
          <a:xfrm>
            <a:off x="5975886" y="1928813"/>
            <a:ext cx="165824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1,371.3L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7634129" y="1928813"/>
            <a:ext cx="1081246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6,900L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3000375" y="2928938"/>
            <a:ext cx="5715000" cy="1571625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286125" y="3270945"/>
            <a:ext cx="5143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STATISTICAL INSIGHT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3286125" y="3524548"/>
            <a:ext cx="5143500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피어슨 상관계수 r = 0.099</a:t>
            </a:r>
            <a:endParaRPr lang="en-US" sz="1800" dirty="0"/>
          </a:p>
        </p:txBody>
      </p:sp>
      <p:sp>
        <p:nvSpPr>
          <p:cNvPr id="56" name="Text 53"/>
          <p:cNvSpPr/>
          <p:nvPr/>
        </p:nvSpPr>
        <p:spPr>
          <a:xfrm>
            <a:off x="3286125" y="4015680"/>
            <a:ext cx="5143500" cy="42862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가격과 재고는 거의 </a:t>
            </a: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독립적 관계</a:t>
            </a:r>
            <a:r>
              <a:rPr lang="en-US" sz="10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를 보입니다.
따라서 가격 전략과 재고 전략을 </a:t>
            </a: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별도로 수립하고 동시에 관리</a:t>
            </a:r>
            <a:r>
              <a:rPr lang="en-US" sz="10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해야 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STATISTICAL TEST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46572"/>
            <a:ext cx="2000250" cy="162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9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ANOVA 검정 결과:
재고 레벨에 따라
가격 전략이
달라진다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3000375" y="785813"/>
            <a:ext cx="5715000" cy="242887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813" y="857250"/>
            <a:ext cx="5572125" cy="235743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000375" y="3500438"/>
            <a:ext cx="5715000" cy="1410891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86125" y="3714750"/>
            <a:ext cx="514350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INTERPRETATION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286125" y="3968353"/>
            <a:ext cx="5143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재고 레벨(GREEN/YELLOW/RED/GRAY)에 따라 요소수 가격이 </a:t>
            </a: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통계적으로 유의미하게 다릅니다.</a:t>
            </a:r>
            <a:r>
              <a:rPr lang="en-US" sz="10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
재고가 풍부한 주유소(GREEN)일수록 가격이 높은 경향이 있으며, 이는 </a:t>
            </a: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가격 결정 전략과 재고 관리의 연계 필요성</a:t>
            </a:r>
            <a:r>
              <a:rPr lang="en-US" sz="1050" dirty="0">
                <a:solidFill>
                  <a:srgbClr val="E0E0E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을 시사합니다.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TARGET ANALYSIS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46572"/>
            <a:ext cx="2000250" cy="1302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9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주유소 유형별
가격·재고 격차 —
맞춤형 전략이
필요하다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3000375" y="714375"/>
            <a:ext cx="5715000" cy="20002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770" y="857250"/>
            <a:ext cx="4326182" cy="178593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000375" y="3000375"/>
            <a:ext cx="2750344" cy="1746647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000375" y="3000375"/>
            <a:ext cx="1521619" cy="2571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4"/>
          <p:cNvSpPr/>
          <p:nvPr/>
        </p:nvSpPr>
        <p:spPr>
          <a:xfrm>
            <a:off x="3000375" y="3000375"/>
            <a:ext cx="1521619" cy="257175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T-검정 항목 (휴게소 vs 일반)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4521994" y="3000375"/>
            <a:ext cx="1228725" cy="2571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6"/>
          <p:cNvSpPr/>
          <p:nvPr/>
        </p:nvSpPr>
        <p:spPr>
          <a:xfrm>
            <a:off x="4521994" y="3000375"/>
            <a:ext cx="1228725" cy="257175"/>
          </a:xfrm>
          <a:prstGeom prst="rect">
            <a:avLst/>
          </a:prstGeom>
          <a:noFill/>
          <a:ln/>
        </p:spPr>
        <p:txBody>
          <a:bodyPr wrap="non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값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3000375" y="3257550"/>
            <a:ext cx="1521619" cy="257175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고속도로 휴게소 평균 가격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4521994" y="3257550"/>
            <a:ext cx="1228725" cy="257175"/>
          </a:xfrm>
          <a:prstGeom prst="rect">
            <a:avLst/>
          </a:prstGeom>
          <a:noFill/>
          <a:ln/>
        </p:spPr>
        <p:txBody>
          <a:bodyPr wrap="non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1,458.3원/L</a:t>
            </a:r>
            <a:endParaRPr lang="en-US" sz="700" dirty="0"/>
          </a:p>
        </p:txBody>
      </p:sp>
      <p:sp>
        <p:nvSpPr>
          <p:cNvPr id="23" name="Text 19"/>
          <p:cNvSpPr/>
          <p:nvPr/>
        </p:nvSpPr>
        <p:spPr>
          <a:xfrm>
            <a:off x="3000375" y="3514725"/>
            <a:ext cx="1521619" cy="257175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일반 주유소 평균 가격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4521994" y="3514725"/>
            <a:ext cx="1228725" cy="257175"/>
          </a:xfrm>
          <a:prstGeom prst="rect">
            <a:avLst/>
          </a:prstGeom>
          <a:noFill/>
          <a:ln/>
        </p:spPr>
        <p:txBody>
          <a:bodyPr wrap="non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1,539.3원/L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3000375" y="3771900"/>
            <a:ext cx="1521619" cy="257175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t-통계량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4521994" y="3771900"/>
            <a:ext cx="1228725" cy="257175"/>
          </a:xfrm>
          <a:prstGeom prst="rect">
            <a:avLst/>
          </a:prstGeom>
          <a:noFill/>
          <a:ln/>
        </p:spPr>
        <p:txBody>
          <a:bodyPr wrap="non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-10.1189</a:t>
            </a:r>
            <a:endParaRPr lang="en-US" sz="700" dirty="0"/>
          </a:p>
        </p:txBody>
      </p:sp>
      <p:sp>
        <p:nvSpPr>
          <p:cNvPr id="27" name="Text 23"/>
          <p:cNvSpPr/>
          <p:nvPr/>
        </p:nvSpPr>
        <p:spPr>
          <a:xfrm>
            <a:off x="3000375" y="4029075"/>
            <a:ext cx="1521619" cy="257175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P-value</a:t>
            </a:r>
            <a:endParaRPr lang="en-US" sz="700" dirty="0"/>
          </a:p>
        </p:txBody>
      </p:sp>
      <p:sp>
        <p:nvSpPr>
          <p:cNvPr id="28" name="Text 24"/>
          <p:cNvSpPr/>
          <p:nvPr/>
        </p:nvSpPr>
        <p:spPr>
          <a:xfrm>
            <a:off x="4521994" y="4029075"/>
            <a:ext cx="1228725" cy="257175"/>
          </a:xfrm>
          <a:prstGeom prst="rect">
            <a:avLst/>
          </a:prstGeom>
          <a:noFill/>
          <a:ln/>
        </p:spPr>
        <p:txBody>
          <a:bodyPr wrap="non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0.0000</a:t>
            </a:r>
            <a:endParaRPr lang="en-US" sz="700" dirty="0"/>
          </a:p>
        </p:txBody>
      </p:sp>
      <p:sp>
        <p:nvSpPr>
          <p:cNvPr id="29" name="Shape 25"/>
          <p:cNvSpPr/>
          <p:nvPr/>
        </p:nvSpPr>
        <p:spPr>
          <a:xfrm>
            <a:off x="3000375" y="4286250"/>
            <a:ext cx="1521619" cy="257175"/>
          </a:xfrm>
          <a:prstGeom prst="rect">
            <a:avLst/>
          </a:prstGeom>
          <a:solidFill>
            <a:srgbClr val="FFF0EB"/>
          </a:solidFill>
          <a:ln/>
        </p:spPr>
      </p:sp>
      <p:sp>
        <p:nvSpPr>
          <p:cNvPr id="30" name="Text 26"/>
          <p:cNvSpPr/>
          <p:nvPr/>
        </p:nvSpPr>
        <p:spPr>
          <a:xfrm>
            <a:off x="3000375" y="4286250"/>
            <a:ext cx="1521619" cy="257175"/>
          </a:xfrm>
          <a:prstGeom prst="rect">
            <a:avLst/>
          </a:prstGeom>
          <a:noFill/>
          <a:ln/>
        </p:spPr>
        <p:txBody>
          <a:bodyPr wrap="squar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결론</a:t>
            </a:r>
            <a:endParaRPr lang="en-US" sz="700" dirty="0"/>
          </a:p>
        </p:txBody>
      </p:sp>
      <p:sp>
        <p:nvSpPr>
          <p:cNvPr id="31" name="Shape 27"/>
          <p:cNvSpPr/>
          <p:nvPr/>
        </p:nvSpPr>
        <p:spPr>
          <a:xfrm>
            <a:off x="4521994" y="4286250"/>
            <a:ext cx="1228725" cy="257175"/>
          </a:xfrm>
          <a:prstGeom prst="rect">
            <a:avLst/>
          </a:prstGeom>
          <a:solidFill>
            <a:srgbClr val="FFF0EB"/>
          </a:solidFill>
          <a:ln/>
        </p:spPr>
      </p:sp>
      <p:sp>
        <p:nvSpPr>
          <p:cNvPr id="32" name="Text 28"/>
          <p:cNvSpPr/>
          <p:nvPr/>
        </p:nvSpPr>
        <p:spPr>
          <a:xfrm>
            <a:off x="4521994" y="4286250"/>
            <a:ext cx="1228725" cy="257175"/>
          </a:xfrm>
          <a:prstGeom prst="rect">
            <a:avLst/>
          </a:prstGeom>
          <a:noFill/>
          <a:ln/>
        </p:spPr>
        <p:txBody>
          <a:bodyPr wrap="none" lIns="127508" tIns="8509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 &lt; 0.05 (유의미한 차이)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5965031" y="3000375"/>
            <a:ext cx="2750344" cy="1543050"/>
          </a:xfrm>
          <a:prstGeom prst="rect">
            <a:avLst/>
          </a:prstGeom>
          <a:solidFill>
            <a:srgbClr val="FF4B00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179344" y="3178969"/>
            <a:ext cx="739378" cy="1857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1"/>
          <p:cNvSpPr/>
          <p:nvPr/>
        </p:nvSpPr>
        <p:spPr>
          <a:xfrm>
            <a:off x="6179344" y="3178969"/>
            <a:ext cx="739378" cy="185738"/>
          </a:xfrm>
          <a:prstGeom prst="rect">
            <a:avLst/>
          </a:prstGeom>
          <a:noFill/>
          <a:ln/>
        </p:spPr>
        <p:txBody>
          <a:bodyPr wrap="none" lIns="102108" tIns="34036" rIns="102108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맞춤형 전략</a:t>
            </a:r>
            <a:endParaRPr lang="en-US" sz="700" dirty="0"/>
          </a:p>
        </p:txBody>
      </p:sp>
      <p:sp>
        <p:nvSpPr>
          <p:cNvPr id="36" name="Text 32"/>
          <p:cNvSpPr/>
          <p:nvPr/>
        </p:nvSpPr>
        <p:spPr>
          <a:xfrm>
            <a:off x="6179344" y="3471863"/>
            <a:ext cx="2321719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알뜰 주유소는 가격이 낮고, 셀프 주유소는 재고가 많습니다.
 FUEL LINK는 각 유형에 맞는 최적화 전략을 제공합니다.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ANSWER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46572"/>
            <a:ext cx="2000250" cy="1302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9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FUEL LINK:
위기를 기회로
바꾸는 AI 재고·
가격 관리 앱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928938" y="785813"/>
            <a:ext cx="5857875" cy="47148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데이터 분석 결과, 주유소 운영의 핵심 문제는 </a:t>
            </a:r>
            <a:r>
              <a:rPr lang="en-US" sz="11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실시간 정보 부재</a:t>
            </a: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입니다.
FUEL LINK는 이를 해결하는 올인원 모바일 앱입니다.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928938" y="1543050"/>
            <a:ext cx="1833544" cy="1594117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07531" y="1721644"/>
            <a:ext cx="1476356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VALUE 01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3107531" y="1919883"/>
            <a:ext cx="1476356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선제적 재고 관리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107531" y="2251342"/>
            <a:ext cx="1476356" cy="321469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기능: AI 자동 발주
(30% 이하 트리거)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107531" y="2679967"/>
            <a:ext cx="1476356" cy="321469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효과: 품절 사태 예방,
기회 손실 제로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941075" y="1543050"/>
            <a:ext cx="1833572" cy="1594117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19669" y="1721644"/>
            <a:ext cx="1476384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VALUE 02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119669" y="1919883"/>
            <a:ext cx="1476384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실시간 가격 경쟁력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19669" y="2251342"/>
            <a:ext cx="1476384" cy="321469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기능: 주변 5km 가격
비교 대시보드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119669" y="2679967"/>
            <a:ext cx="1476384" cy="321469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효과: 최적 가격 설정으로
고객 유치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953241" y="1543050"/>
            <a:ext cx="1833544" cy="1594117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31834" y="1721644"/>
            <a:ext cx="1476356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VALUE 03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7131834" y="1919883"/>
            <a:ext cx="1476356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고객 관계 강화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131834" y="2251342"/>
            <a:ext cx="1476356" cy="321469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기능: 포인트·차량 관리·
입고 알림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131834" y="2679967"/>
            <a:ext cx="1476356" cy="321469"/>
          </a:xfrm>
          <a:prstGeom prst="rect">
            <a:avLst/>
          </a:prstGeom>
          <a:noFill/>
          <a:ln/>
        </p:spPr>
        <p:txBody>
          <a:bodyPr wrap="square" lIns="8509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효과: 재방문율 향상,
충성 고객 확보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2928938" y="3400425"/>
            <a:ext cx="5857875" cy="978303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143250" y="3579019"/>
            <a:ext cx="54292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앱 화면 구성 (APP STRUCTURE)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143250" y="3841552"/>
            <a:ext cx="16287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메인 대시보드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143250" y="4070152"/>
            <a:ext cx="16287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재고 현황 + 주변 가격 비교 한눈에 보기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043488" y="3841552"/>
            <a:ext cx="16287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알림 센터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43488" y="4070152"/>
            <a:ext cx="16287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재고 경고 + 입고 완료 + 가격 변동 알림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6943725" y="3841552"/>
            <a:ext cx="16287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분석 리포트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943725" y="4070152"/>
            <a:ext cx="16287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월별 재고 소진 패턴 + 매출 연동 분석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SOLUTION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46572"/>
            <a:ext cx="2000250" cy="167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재고 30% 이하 →
자동 발주:
사장님이 잠든
사이에도 재고가
채워진다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928938" y="785813"/>
            <a:ext cx="58578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자동 발주 프로세스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928938" y="1048345"/>
            <a:ext cx="5857875" cy="71437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036094" y="1276945"/>
            <a:ext cx="785813" cy="400050"/>
          </a:xfrm>
          <a:prstGeom prst="rect">
            <a:avLst/>
          </a:prstGeom>
          <a:solidFill>
            <a:srgbClr val="F4F4F6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036094" y="1276945"/>
            <a:ext cx="785813" cy="400050"/>
          </a:xfrm>
          <a:prstGeom prst="rect">
            <a:avLst/>
          </a:prstGeom>
          <a:noFill/>
          <a:ln/>
        </p:spPr>
        <p:txBody>
          <a:bodyPr wrap="square" lIns="68072" tIns="102108" rIns="68072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재고 실시간
모니터링</a:t>
            </a:r>
            <a:endParaRPr lang="en-US" sz="6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020" y="1424285"/>
            <a:ext cx="87511" cy="100013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007644" y="1276945"/>
            <a:ext cx="785813" cy="400050"/>
          </a:xfrm>
          <a:prstGeom prst="rect">
            <a:avLst/>
          </a:prstGeom>
          <a:solidFill>
            <a:srgbClr val="FFF0EB"/>
          </a:solidFill>
          <a:ln w="18288">
            <a:solidFill>
              <a:srgbClr val="FF4B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007644" y="1276945"/>
            <a:ext cx="785813" cy="400050"/>
          </a:xfrm>
          <a:prstGeom prst="rect">
            <a:avLst/>
          </a:prstGeom>
          <a:noFill/>
          <a:ln/>
        </p:spPr>
        <p:txBody>
          <a:bodyPr wrap="square" lIns="68072" tIns="102108" rIns="68072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30% 임계값
감지</a:t>
            </a:r>
            <a:endParaRPr lang="en-US" sz="65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570" y="1424285"/>
            <a:ext cx="87511" cy="100013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979194" y="1276945"/>
            <a:ext cx="785813" cy="400050"/>
          </a:xfrm>
          <a:prstGeom prst="rect">
            <a:avLst/>
          </a:prstGeom>
          <a:solidFill>
            <a:srgbClr val="F4F4F6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979194" y="1276945"/>
            <a:ext cx="785813" cy="400050"/>
          </a:xfrm>
          <a:prstGeom prst="rect">
            <a:avLst/>
          </a:prstGeom>
          <a:noFill/>
          <a:ln/>
        </p:spPr>
        <p:txBody>
          <a:bodyPr wrap="square" lIns="68072" tIns="102108" rIns="68072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 발주량
계산</a:t>
            </a:r>
            <a:endParaRPr lang="en-US" sz="6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120" y="1424285"/>
            <a:ext cx="87511" cy="100013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950744" y="1276945"/>
            <a:ext cx="785813" cy="400050"/>
          </a:xfrm>
          <a:prstGeom prst="rect">
            <a:avLst/>
          </a:prstGeom>
          <a:solidFill>
            <a:srgbClr val="FFF0EB"/>
          </a:solidFill>
          <a:ln w="18288">
            <a:solidFill>
              <a:srgbClr val="FF4B0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950744" y="1276945"/>
            <a:ext cx="785813" cy="400050"/>
          </a:xfrm>
          <a:prstGeom prst="rect">
            <a:avLst/>
          </a:prstGeom>
          <a:noFill/>
          <a:ln/>
        </p:spPr>
        <p:txBody>
          <a:bodyPr wrap="square" lIns="68072" tIns="102108" rIns="68072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자동 발주
요청</a:t>
            </a:r>
            <a:endParaRPr lang="en-US" sz="65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670" y="1424285"/>
            <a:ext cx="87511" cy="100013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6922294" y="1276945"/>
            <a:ext cx="785813" cy="400050"/>
          </a:xfrm>
          <a:prstGeom prst="rect">
            <a:avLst/>
          </a:prstGeom>
          <a:solidFill>
            <a:srgbClr val="F4F4F6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922294" y="1276945"/>
            <a:ext cx="785813" cy="400050"/>
          </a:xfrm>
          <a:prstGeom prst="rect">
            <a:avLst/>
          </a:prstGeom>
          <a:noFill/>
          <a:ln/>
        </p:spPr>
        <p:txBody>
          <a:bodyPr wrap="square" lIns="68072" tIns="102108" rIns="68072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사장님 승인
알림</a:t>
            </a:r>
            <a:endParaRPr lang="en-US" sz="65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7220" y="1424285"/>
            <a:ext cx="87511" cy="100013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893844" y="1276945"/>
            <a:ext cx="785813" cy="400050"/>
          </a:xfrm>
          <a:prstGeom prst="rect">
            <a:avLst/>
          </a:prstGeom>
          <a:solidFill>
            <a:srgbClr val="F4F4F6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893844" y="1276945"/>
            <a:ext cx="785813" cy="400050"/>
          </a:xfrm>
          <a:prstGeom prst="rect">
            <a:avLst/>
          </a:prstGeom>
          <a:noFill/>
          <a:ln/>
        </p:spPr>
        <p:txBody>
          <a:bodyPr wrap="square" lIns="68072" tIns="102108" rIns="68072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입고 완료
알림</a:t>
            </a:r>
            <a:endParaRPr lang="en-US" sz="650" dirty="0"/>
          </a:p>
        </p:txBody>
      </p:sp>
      <p:sp>
        <p:nvSpPr>
          <p:cNvPr id="33" name="Shape 25"/>
          <p:cNvSpPr/>
          <p:nvPr/>
        </p:nvSpPr>
        <p:spPr>
          <a:xfrm>
            <a:off x="2928938" y="2048470"/>
            <a:ext cx="5857875" cy="181451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2928938" y="2048470"/>
            <a:ext cx="1464469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5" name="Shape 27"/>
          <p:cNvSpPr/>
          <p:nvPr/>
        </p:nvSpPr>
        <p:spPr>
          <a:xfrm>
            <a:off x="4379119" y="2048470"/>
            <a:ext cx="14288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Shape 28"/>
          <p:cNvSpPr/>
          <p:nvPr/>
        </p:nvSpPr>
        <p:spPr>
          <a:xfrm>
            <a:off x="2928938" y="2391370"/>
            <a:ext cx="1464469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7" name="Text 29"/>
          <p:cNvSpPr/>
          <p:nvPr/>
        </p:nvSpPr>
        <p:spPr>
          <a:xfrm>
            <a:off x="2928938" y="2048470"/>
            <a:ext cx="146446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항목</a:t>
            </a:r>
            <a:endParaRPr lang="en-US" sz="800" dirty="0"/>
          </a:p>
        </p:txBody>
      </p:sp>
      <p:sp>
        <p:nvSpPr>
          <p:cNvPr id="38" name="Shape 30"/>
          <p:cNvSpPr/>
          <p:nvPr/>
        </p:nvSpPr>
        <p:spPr>
          <a:xfrm>
            <a:off x="4393406" y="2048470"/>
            <a:ext cx="2196703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9" name="Shape 31"/>
          <p:cNvSpPr/>
          <p:nvPr/>
        </p:nvSpPr>
        <p:spPr>
          <a:xfrm>
            <a:off x="6575822" y="2048470"/>
            <a:ext cx="14288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Shape 32"/>
          <p:cNvSpPr/>
          <p:nvPr/>
        </p:nvSpPr>
        <p:spPr>
          <a:xfrm>
            <a:off x="4393406" y="2391370"/>
            <a:ext cx="2196703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1" name="Shape 33"/>
          <p:cNvSpPr/>
          <p:nvPr/>
        </p:nvSpPr>
        <p:spPr>
          <a:xfrm>
            <a:off x="4393406" y="2048470"/>
            <a:ext cx="14288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2" name="Text 34"/>
          <p:cNvSpPr/>
          <p:nvPr/>
        </p:nvSpPr>
        <p:spPr>
          <a:xfrm>
            <a:off x="4393406" y="2048470"/>
            <a:ext cx="219670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요소수</a:t>
            </a:r>
            <a:endParaRPr lang="en-US" sz="800" dirty="0"/>
          </a:p>
        </p:txBody>
      </p:sp>
      <p:sp>
        <p:nvSpPr>
          <p:cNvPr id="43" name="Shape 35"/>
          <p:cNvSpPr/>
          <p:nvPr/>
        </p:nvSpPr>
        <p:spPr>
          <a:xfrm>
            <a:off x="6590109" y="2048470"/>
            <a:ext cx="2196703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4" name="Shape 36"/>
          <p:cNvSpPr/>
          <p:nvPr/>
        </p:nvSpPr>
        <p:spPr>
          <a:xfrm>
            <a:off x="6590109" y="2391370"/>
            <a:ext cx="2196703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5" name="Shape 37"/>
          <p:cNvSpPr/>
          <p:nvPr/>
        </p:nvSpPr>
        <p:spPr>
          <a:xfrm>
            <a:off x="6590109" y="2048470"/>
            <a:ext cx="14288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6" name="Text 38"/>
          <p:cNvSpPr/>
          <p:nvPr/>
        </p:nvSpPr>
        <p:spPr>
          <a:xfrm>
            <a:off x="6590109" y="2048470"/>
            <a:ext cx="219670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휘발유</a:t>
            </a:r>
            <a:endParaRPr lang="en-US" sz="800" dirty="0"/>
          </a:p>
        </p:txBody>
      </p:sp>
      <p:sp>
        <p:nvSpPr>
          <p:cNvPr id="47" name="Shape 39"/>
          <p:cNvSpPr/>
          <p:nvPr/>
        </p:nvSpPr>
        <p:spPr>
          <a:xfrm>
            <a:off x="2928938" y="2405658"/>
            <a:ext cx="1464469" cy="357188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48" name="Shape 40"/>
          <p:cNvSpPr/>
          <p:nvPr/>
        </p:nvSpPr>
        <p:spPr>
          <a:xfrm>
            <a:off x="2928938" y="2405658"/>
            <a:ext cx="1464469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9" name="Shape 41"/>
          <p:cNvSpPr/>
          <p:nvPr/>
        </p:nvSpPr>
        <p:spPr>
          <a:xfrm>
            <a:off x="4379119" y="2405658"/>
            <a:ext cx="14288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0" name="Shape 42"/>
          <p:cNvSpPr/>
          <p:nvPr/>
        </p:nvSpPr>
        <p:spPr>
          <a:xfrm>
            <a:off x="2928938" y="2748558"/>
            <a:ext cx="1464469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1" name="Text 43"/>
          <p:cNvSpPr/>
          <p:nvPr/>
        </p:nvSpPr>
        <p:spPr>
          <a:xfrm>
            <a:off x="2928938" y="2405658"/>
            <a:ext cx="146446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발주 트리거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4393406" y="2405658"/>
            <a:ext cx="219670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재고 30% 이하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6590109" y="2405658"/>
            <a:ext cx="219670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재고 25% 이하</a:t>
            </a:r>
            <a:endParaRPr lang="en-US" sz="800" dirty="0"/>
          </a:p>
        </p:txBody>
      </p:sp>
      <p:sp>
        <p:nvSpPr>
          <p:cNvPr id="54" name="Shape 46"/>
          <p:cNvSpPr/>
          <p:nvPr/>
        </p:nvSpPr>
        <p:spPr>
          <a:xfrm>
            <a:off x="2928938" y="2762845"/>
            <a:ext cx="1464469" cy="357188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55" name="Shape 47"/>
          <p:cNvSpPr/>
          <p:nvPr/>
        </p:nvSpPr>
        <p:spPr>
          <a:xfrm>
            <a:off x="2928938" y="2762845"/>
            <a:ext cx="1464469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6" name="Shape 48"/>
          <p:cNvSpPr/>
          <p:nvPr/>
        </p:nvSpPr>
        <p:spPr>
          <a:xfrm>
            <a:off x="4379119" y="2762845"/>
            <a:ext cx="14288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7" name="Shape 49"/>
          <p:cNvSpPr/>
          <p:nvPr/>
        </p:nvSpPr>
        <p:spPr>
          <a:xfrm>
            <a:off x="2928938" y="3105745"/>
            <a:ext cx="1464469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8" name="Text 50"/>
          <p:cNvSpPr/>
          <p:nvPr/>
        </p:nvSpPr>
        <p:spPr>
          <a:xfrm>
            <a:off x="2928938" y="2762845"/>
            <a:ext cx="146446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 예측 기준</a:t>
            </a:r>
            <a:endParaRPr lang="en-US" sz="800" dirty="0"/>
          </a:p>
        </p:txBody>
      </p:sp>
      <p:sp>
        <p:nvSpPr>
          <p:cNvPr id="59" name="Text 51"/>
          <p:cNvSpPr/>
          <p:nvPr/>
        </p:nvSpPr>
        <p:spPr>
          <a:xfrm>
            <a:off x="4393406" y="2762845"/>
            <a:ext cx="219670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일평균 소비량 × 7일</a:t>
            </a:r>
            <a:endParaRPr lang="en-US" sz="800" dirty="0"/>
          </a:p>
        </p:txBody>
      </p:sp>
      <p:sp>
        <p:nvSpPr>
          <p:cNvPr id="60" name="Text 52"/>
          <p:cNvSpPr/>
          <p:nvPr/>
        </p:nvSpPr>
        <p:spPr>
          <a:xfrm>
            <a:off x="6590109" y="2762845"/>
            <a:ext cx="219670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유가 동향 + 계절 수요</a:t>
            </a:r>
            <a:endParaRPr lang="en-US" sz="800" dirty="0"/>
          </a:p>
        </p:txBody>
      </p:sp>
      <p:sp>
        <p:nvSpPr>
          <p:cNvPr id="61" name="Shape 53"/>
          <p:cNvSpPr/>
          <p:nvPr/>
        </p:nvSpPr>
        <p:spPr>
          <a:xfrm>
            <a:off x="2928938" y="3120033"/>
            <a:ext cx="1464469" cy="357188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62" name="Shape 54"/>
          <p:cNvSpPr/>
          <p:nvPr/>
        </p:nvSpPr>
        <p:spPr>
          <a:xfrm>
            <a:off x="2928938" y="3120033"/>
            <a:ext cx="1464469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3" name="Shape 55"/>
          <p:cNvSpPr/>
          <p:nvPr/>
        </p:nvSpPr>
        <p:spPr>
          <a:xfrm>
            <a:off x="4379119" y="3120033"/>
            <a:ext cx="14288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4" name="Shape 56"/>
          <p:cNvSpPr/>
          <p:nvPr/>
        </p:nvSpPr>
        <p:spPr>
          <a:xfrm>
            <a:off x="2928938" y="3462933"/>
            <a:ext cx="1464469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5" name="Text 57"/>
          <p:cNvSpPr/>
          <p:nvPr/>
        </p:nvSpPr>
        <p:spPr>
          <a:xfrm>
            <a:off x="2928938" y="3120033"/>
            <a:ext cx="146446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발주 단위</a:t>
            </a:r>
            <a:endParaRPr lang="en-US" sz="800" dirty="0"/>
          </a:p>
        </p:txBody>
      </p:sp>
      <p:sp>
        <p:nvSpPr>
          <p:cNvPr id="66" name="Text 58"/>
          <p:cNvSpPr/>
          <p:nvPr/>
        </p:nvSpPr>
        <p:spPr>
          <a:xfrm>
            <a:off x="4393406" y="3120033"/>
            <a:ext cx="219670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200L 단위</a:t>
            </a:r>
            <a:endParaRPr lang="en-US" sz="800" dirty="0"/>
          </a:p>
        </p:txBody>
      </p:sp>
      <p:sp>
        <p:nvSpPr>
          <p:cNvPr id="67" name="Text 59"/>
          <p:cNvSpPr/>
          <p:nvPr/>
        </p:nvSpPr>
        <p:spPr>
          <a:xfrm>
            <a:off x="6590109" y="3120033"/>
            <a:ext cx="219670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1,000L 단위</a:t>
            </a:r>
            <a:endParaRPr lang="en-US" sz="800" dirty="0"/>
          </a:p>
        </p:txBody>
      </p:sp>
      <p:sp>
        <p:nvSpPr>
          <p:cNvPr id="68" name="Shape 60"/>
          <p:cNvSpPr/>
          <p:nvPr/>
        </p:nvSpPr>
        <p:spPr>
          <a:xfrm>
            <a:off x="2928938" y="3477220"/>
            <a:ext cx="1464469" cy="357188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69" name="Shape 61"/>
          <p:cNvSpPr/>
          <p:nvPr/>
        </p:nvSpPr>
        <p:spPr>
          <a:xfrm>
            <a:off x="2928938" y="3477220"/>
            <a:ext cx="1464469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0" name="Shape 62"/>
          <p:cNvSpPr/>
          <p:nvPr/>
        </p:nvSpPr>
        <p:spPr>
          <a:xfrm>
            <a:off x="4379119" y="3477220"/>
            <a:ext cx="14288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1" name="Text 63"/>
          <p:cNvSpPr/>
          <p:nvPr/>
        </p:nvSpPr>
        <p:spPr>
          <a:xfrm>
            <a:off x="2928938" y="3477220"/>
            <a:ext cx="146446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리드타임</a:t>
            </a:r>
            <a:endParaRPr lang="en-US" sz="800" dirty="0"/>
          </a:p>
        </p:txBody>
      </p:sp>
      <p:sp>
        <p:nvSpPr>
          <p:cNvPr id="72" name="Text 64"/>
          <p:cNvSpPr/>
          <p:nvPr/>
        </p:nvSpPr>
        <p:spPr>
          <a:xfrm>
            <a:off x="4393406" y="3477220"/>
            <a:ext cx="219670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1~2일</a:t>
            </a:r>
            <a:endParaRPr lang="en-US" sz="800" dirty="0"/>
          </a:p>
        </p:txBody>
      </p:sp>
      <p:sp>
        <p:nvSpPr>
          <p:cNvPr id="73" name="Text 65"/>
          <p:cNvSpPr/>
          <p:nvPr/>
        </p:nvSpPr>
        <p:spPr>
          <a:xfrm>
            <a:off x="6590109" y="3477220"/>
            <a:ext cx="2196703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당일~1일</a:t>
            </a:r>
            <a:endParaRPr lang="en-US" sz="800" dirty="0"/>
          </a:p>
        </p:txBody>
      </p:sp>
      <p:sp>
        <p:nvSpPr>
          <p:cNvPr id="74" name="Shape 66"/>
          <p:cNvSpPr/>
          <p:nvPr/>
        </p:nvSpPr>
        <p:spPr>
          <a:xfrm>
            <a:off x="2928938" y="4120158"/>
            <a:ext cx="5857875" cy="714375"/>
          </a:xfrm>
          <a:prstGeom prst="rect">
            <a:avLst/>
          </a:prstGeom>
          <a:solidFill>
            <a:srgbClr val="FF4B00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75" name="Shape 67"/>
          <p:cNvSpPr/>
          <p:nvPr/>
        </p:nvSpPr>
        <p:spPr>
          <a:xfrm>
            <a:off x="3143250" y="4445198"/>
            <a:ext cx="728663" cy="24288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76" name="Text 68"/>
          <p:cNvSpPr/>
          <p:nvPr/>
        </p:nvSpPr>
        <p:spPr>
          <a:xfrm>
            <a:off x="3143250" y="4445198"/>
            <a:ext cx="728663" cy="242888"/>
          </a:xfrm>
          <a:prstGeom prst="rect">
            <a:avLst/>
          </a:prstGeom>
          <a:noFill/>
          <a:ln/>
        </p:spPr>
        <p:txBody>
          <a:bodyPr wrap="none" lIns="127508" tIns="51054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기대 효과</a:t>
            </a:r>
            <a:endParaRPr lang="en-US" sz="800" dirty="0"/>
          </a:p>
        </p:txBody>
      </p:sp>
      <p:sp>
        <p:nvSpPr>
          <p:cNvPr id="77" name="Text 69"/>
          <p:cNvSpPr/>
          <p:nvPr/>
        </p:nvSpPr>
        <p:spPr>
          <a:xfrm>
            <a:off x="4021931" y="4470202"/>
            <a:ext cx="327540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재고 관리 시간 </a:t>
            </a:r>
            <a:r>
              <a:rPr lang="en-US" sz="9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70% 절감</a:t>
            </a: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 및 품절로 인한 </a:t>
            </a:r>
            <a:r>
              <a:rPr lang="en-US" sz="9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고객 이탈 제로화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CUSTOMER CRM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46572"/>
            <a:ext cx="2000250" cy="162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9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고객도 실시간으로
안다 —
정보 공유가 충성
고객을 만든다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2928938" y="714375"/>
            <a:ext cx="1857375" cy="1143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71813" y="857250"/>
            <a:ext cx="15716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071813" y="1146572"/>
            <a:ext cx="157162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실시간 재고·가격 공개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071813" y="1385162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고객이 방문 전 요소수·휘발유 재고 및 가격 확인 가능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929188" y="714375"/>
            <a:ext cx="1857375" cy="1143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72063" y="857250"/>
            <a:ext cx="15716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72063" y="1146572"/>
            <a:ext cx="157162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포인트 적립 시스템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072063" y="1385162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방문 시마다 포인트 적립, 일정 금액 이상 시 할인 쿠폰 발행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6929438" y="714375"/>
            <a:ext cx="1857375" cy="11430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72313" y="857250"/>
            <a:ext cx="157162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072313" y="1146572"/>
            <a:ext cx="157162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차량 관리 서비스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072313" y="1385162"/>
            <a:ext cx="15716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마지막 요소수 보충일 기록, 보충 주기 알림 (예: 3개월 후)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2928938" y="2071688"/>
            <a:ext cx="58578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고객 경험 흐름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2928938" y="2278856"/>
            <a:ext cx="5857875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036094" y="2475309"/>
            <a:ext cx="769432" cy="285750"/>
          </a:xfrm>
          <a:prstGeom prst="rect">
            <a:avLst/>
          </a:prstGeom>
          <a:solidFill>
            <a:srgbClr val="F4F4F6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36094" y="2475309"/>
            <a:ext cx="769432" cy="285750"/>
          </a:xfrm>
          <a:prstGeom prst="rect">
            <a:avLst/>
          </a:prstGeom>
          <a:noFill/>
          <a:ln/>
        </p:spPr>
        <p:txBody>
          <a:bodyPr wrap="square" lIns="68072" tIns="68072" rIns="68072" bIns="0" rtlCol="0" anchor="ctr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앱 설치</a:t>
            </a:r>
            <a:endParaRPr lang="en-US" sz="65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3160" y="2565499"/>
            <a:ext cx="62508" cy="100013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3987105" y="2475309"/>
            <a:ext cx="774204" cy="285750"/>
          </a:xfrm>
          <a:prstGeom prst="rect">
            <a:avLst/>
          </a:prstGeom>
          <a:solidFill>
            <a:srgbClr val="F4F4F6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987105" y="2475309"/>
            <a:ext cx="774204" cy="285750"/>
          </a:xfrm>
          <a:prstGeom prst="rect">
            <a:avLst/>
          </a:prstGeom>
          <a:noFill/>
          <a:ln/>
        </p:spPr>
        <p:txBody>
          <a:bodyPr wrap="square" lIns="68072" tIns="68072" rIns="68072" bIns="0" rtlCol="0" anchor="ctr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차량 등록</a:t>
            </a:r>
            <a:endParaRPr lang="en-US" sz="65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3715" y="2565499"/>
            <a:ext cx="62508" cy="100013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4947661" y="2475309"/>
            <a:ext cx="778976" cy="285750"/>
          </a:xfrm>
          <a:prstGeom prst="rect">
            <a:avLst/>
          </a:prstGeom>
          <a:solidFill>
            <a:srgbClr val="F4F4F6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947661" y="2475309"/>
            <a:ext cx="778976" cy="285750"/>
          </a:xfrm>
          <a:prstGeom prst="rect">
            <a:avLst/>
          </a:prstGeom>
          <a:noFill/>
          <a:ln/>
        </p:spPr>
        <p:txBody>
          <a:bodyPr wrap="square" lIns="68072" tIns="68072" rIns="68072" bIns="0" rtlCol="0" anchor="ctr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재고·가격 확인</a:t>
            </a:r>
            <a:endParaRPr lang="en-US" sz="65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3731" y="2565499"/>
            <a:ext cx="62508" cy="100013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5917676" y="2475309"/>
            <a:ext cx="783720" cy="285750"/>
          </a:xfrm>
          <a:prstGeom prst="rect">
            <a:avLst/>
          </a:prstGeom>
          <a:solidFill>
            <a:srgbClr val="F4F4F6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917676" y="2475309"/>
            <a:ext cx="783720" cy="285750"/>
          </a:xfrm>
          <a:prstGeom prst="rect">
            <a:avLst/>
          </a:prstGeom>
          <a:noFill/>
          <a:ln/>
        </p:spPr>
        <p:txBody>
          <a:bodyPr wrap="square" lIns="68072" tIns="68072" rIns="68072" bIns="0" rtlCol="0" anchor="ctr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주유소 방문</a:t>
            </a:r>
            <a:endParaRPr lang="en-US" sz="650" dirty="0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3345" y="2565499"/>
            <a:ext cx="62508" cy="100013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6897291" y="2475309"/>
            <a:ext cx="788491" cy="285750"/>
          </a:xfrm>
          <a:prstGeom prst="rect">
            <a:avLst/>
          </a:prstGeom>
          <a:solidFill>
            <a:srgbClr val="F4F4F6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897291" y="2475309"/>
            <a:ext cx="788491" cy="285750"/>
          </a:xfrm>
          <a:prstGeom prst="rect">
            <a:avLst/>
          </a:prstGeom>
          <a:noFill/>
          <a:ln/>
        </p:spPr>
        <p:txBody>
          <a:bodyPr wrap="square" lIns="68072" tIns="68072" rIns="68072" bIns="0" rtlCol="0" anchor="ctr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포인트 적립</a:t>
            </a:r>
            <a:endParaRPr lang="en-US" sz="65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2504" y="2565499"/>
            <a:ext cx="62508" cy="100013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7886449" y="2454604"/>
            <a:ext cx="793263" cy="327161"/>
          </a:xfrm>
          <a:prstGeom prst="rect">
            <a:avLst/>
          </a:prstGeom>
          <a:solidFill>
            <a:srgbClr val="FFF0EB"/>
          </a:solidFill>
          <a:ln w="18288">
            <a:solidFill>
              <a:srgbClr val="FF4B0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7886449" y="2454604"/>
            <a:ext cx="793263" cy="327161"/>
          </a:xfrm>
          <a:prstGeom prst="rect">
            <a:avLst/>
          </a:prstGeom>
          <a:noFill/>
          <a:ln/>
        </p:spPr>
        <p:txBody>
          <a:bodyPr wrap="square" lIns="68072" tIns="68072" rIns="68072" bIns="0" rtlCol="0" anchor="ctr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재방문 알림 수신</a:t>
            </a:r>
            <a:endParaRPr lang="en-US" sz="650" dirty="0"/>
          </a:p>
        </p:txBody>
      </p:sp>
      <p:sp>
        <p:nvSpPr>
          <p:cNvPr id="45" name="Shape 37"/>
          <p:cNvSpPr/>
          <p:nvPr/>
        </p:nvSpPr>
        <p:spPr>
          <a:xfrm>
            <a:off x="2928938" y="3064669"/>
            <a:ext cx="5857875" cy="1707356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2928938" y="3064669"/>
            <a:ext cx="5857875" cy="32146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7" name="Text 39"/>
          <p:cNvSpPr/>
          <p:nvPr/>
        </p:nvSpPr>
        <p:spPr>
          <a:xfrm>
            <a:off x="2928938" y="3064669"/>
            <a:ext cx="5857875" cy="321469"/>
          </a:xfrm>
          <a:prstGeom prst="rect">
            <a:avLst/>
          </a:prstGeom>
          <a:noFill/>
          <a:ln/>
        </p:spPr>
        <p:txBody>
          <a:bodyPr wrap="square" lIns="170053" tIns="1021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주유소 사장님 관점 수익 (ROI)</a:t>
            </a:r>
            <a:endParaRPr lang="en-US" sz="800" dirty="0"/>
          </a:p>
        </p:txBody>
      </p:sp>
      <p:sp>
        <p:nvSpPr>
          <p:cNvPr id="48" name="Shape 40"/>
          <p:cNvSpPr/>
          <p:nvPr/>
        </p:nvSpPr>
        <p:spPr>
          <a:xfrm>
            <a:off x="2928938" y="3386138"/>
            <a:ext cx="2343150" cy="28575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49" name="Shape 41"/>
          <p:cNvSpPr/>
          <p:nvPr/>
        </p:nvSpPr>
        <p:spPr>
          <a:xfrm>
            <a:off x="2928938" y="3657600"/>
            <a:ext cx="234315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0" name="Text 42"/>
          <p:cNvSpPr/>
          <p:nvPr/>
        </p:nvSpPr>
        <p:spPr>
          <a:xfrm>
            <a:off x="2928938" y="3386138"/>
            <a:ext cx="2343150" cy="285750"/>
          </a:xfrm>
          <a:prstGeom prst="rect">
            <a:avLst/>
          </a:prstGeom>
          <a:noFill/>
          <a:ln/>
        </p:spPr>
        <p:txBody>
          <a:bodyPr wrap="square" lIns="170053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지표</a:t>
            </a:r>
            <a:endParaRPr lang="en-US" sz="700" dirty="0"/>
          </a:p>
        </p:txBody>
      </p:sp>
      <p:sp>
        <p:nvSpPr>
          <p:cNvPr id="51" name="Shape 43"/>
          <p:cNvSpPr/>
          <p:nvPr/>
        </p:nvSpPr>
        <p:spPr>
          <a:xfrm>
            <a:off x="5272088" y="3386138"/>
            <a:ext cx="1426797" cy="28575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52" name="Shape 44"/>
          <p:cNvSpPr/>
          <p:nvPr/>
        </p:nvSpPr>
        <p:spPr>
          <a:xfrm>
            <a:off x="5272088" y="3657600"/>
            <a:ext cx="1426797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3" name="Text 45"/>
          <p:cNvSpPr/>
          <p:nvPr/>
        </p:nvSpPr>
        <p:spPr>
          <a:xfrm>
            <a:off x="5272088" y="3386138"/>
            <a:ext cx="1426797" cy="285750"/>
          </a:xfrm>
          <a:prstGeom prst="rect">
            <a:avLst/>
          </a:prstGeom>
          <a:noFill/>
          <a:ln/>
        </p:spPr>
        <p:txBody>
          <a:bodyPr wrap="square" lIns="170053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도입 전</a:t>
            </a:r>
            <a:endParaRPr lang="en-US" sz="700" dirty="0"/>
          </a:p>
        </p:txBody>
      </p:sp>
      <p:sp>
        <p:nvSpPr>
          <p:cNvPr id="54" name="Shape 46"/>
          <p:cNvSpPr/>
          <p:nvPr/>
        </p:nvSpPr>
        <p:spPr>
          <a:xfrm>
            <a:off x="6698884" y="3386138"/>
            <a:ext cx="2087928" cy="285750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55" name="Shape 47"/>
          <p:cNvSpPr/>
          <p:nvPr/>
        </p:nvSpPr>
        <p:spPr>
          <a:xfrm>
            <a:off x="6698884" y="3657600"/>
            <a:ext cx="2087928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6" name="Text 48"/>
          <p:cNvSpPr/>
          <p:nvPr/>
        </p:nvSpPr>
        <p:spPr>
          <a:xfrm>
            <a:off x="6698884" y="3386138"/>
            <a:ext cx="2087928" cy="285750"/>
          </a:xfrm>
          <a:prstGeom prst="rect">
            <a:avLst/>
          </a:prstGeom>
          <a:noFill/>
          <a:ln/>
        </p:spPr>
        <p:txBody>
          <a:bodyPr wrap="square" lIns="170053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도입 후 (예상)</a:t>
            </a:r>
            <a:endParaRPr lang="en-US" sz="700" dirty="0"/>
          </a:p>
        </p:txBody>
      </p:sp>
      <p:sp>
        <p:nvSpPr>
          <p:cNvPr id="57" name="Text 49"/>
          <p:cNvSpPr/>
          <p:nvPr/>
        </p:nvSpPr>
        <p:spPr>
          <a:xfrm>
            <a:off x="2928938" y="3671888"/>
            <a:ext cx="2343150" cy="357188"/>
          </a:xfrm>
          <a:prstGeom prst="rect">
            <a:avLst/>
          </a:prstGeom>
          <a:noFill/>
          <a:ln/>
        </p:spPr>
        <p:txBody>
          <a:bodyPr wrap="square" lIns="170053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월 방문 고객 수</a:t>
            </a:r>
            <a:endParaRPr lang="en-US" sz="800" dirty="0"/>
          </a:p>
        </p:txBody>
      </p:sp>
      <p:sp>
        <p:nvSpPr>
          <p:cNvPr id="58" name="Text 50"/>
          <p:cNvSpPr/>
          <p:nvPr/>
        </p:nvSpPr>
        <p:spPr>
          <a:xfrm>
            <a:off x="5272088" y="3671888"/>
            <a:ext cx="1426797" cy="357188"/>
          </a:xfrm>
          <a:prstGeom prst="rect">
            <a:avLst/>
          </a:prstGeom>
          <a:noFill/>
          <a:ln/>
        </p:spPr>
        <p:txBody>
          <a:bodyPr wrap="square" lIns="170053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기준값</a:t>
            </a:r>
            <a:endParaRPr lang="en-US" sz="800" dirty="0"/>
          </a:p>
        </p:txBody>
      </p:sp>
      <p:sp>
        <p:nvSpPr>
          <p:cNvPr id="59" name="Shape 51"/>
          <p:cNvSpPr/>
          <p:nvPr/>
        </p:nvSpPr>
        <p:spPr>
          <a:xfrm>
            <a:off x="6698884" y="3671888"/>
            <a:ext cx="2087928" cy="357188"/>
          </a:xfrm>
          <a:prstGeom prst="rect">
            <a:avLst/>
          </a:prstGeom>
          <a:solidFill>
            <a:srgbClr val="FFF0EB"/>
          </a:solidFill>
          <a:ln/>
        </p:spPr>
      </p:sp>
      <p:sp>
        <p:nvSpPr>
          <p:cNvPr id="60" name="Shape 52"/>
          <p:cNvSpPr/>
          <p:nvPr/>
        </p:nvSpPr>
        <p:spPr>
          <a:xfrm>
            <a:off x="6698884" y="4021931"/>
            <a:ext cx="2087928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1" name="Text 53"/>
          <p:cNvSpPr/>
          <p:nvPr/>
        </p:nvSpPr>
        <p:spPr>
          <a:xfrm>
            <a:off x="6698884" y="3671888"/>
            <a:ext cx="2087928" cy="357188"/>
          </a:xfrm>
          <a:prstGeom prst="rect">
            <a:avLst/>
          </a:prstGeom>
          <a:noFill/>
          <a:ln/>
        </p:spPr>
        <p:txBody>
          <a:bodyPr wrap="square" lIns="170053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+15~20% 증가</a:t>
            </a:r>
            <a:endParaRPr lang="en-US" sz="800" dirty="0"/>
          </a:p>
        </p:txBody>
      </p:sp>
      <p:sp>
        <p:nvSpPr>
          <p:cNvPr id="62" name="Text 54"/>
          <p:cNvSpPr/>
          <p:nvPr/>
        </p:nvSpPr>
        <p:spPr>
          <a:xfrm>
            <a:off x="2928938" y="4029075"/>
            <a:ext cx="2343150" cy="357188"/>
          </a:xfrm>
          <a:prstGeom prst="rect">
            <a:avLst/>
          </a:prstGeom>
          <a:noFill/>
          <a:ln/>
        </p:spPr>
        <p:txBody>
          <a:bodyPr wrap="square" lIns="170053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고객 재방문율</a:t>
            </a:r>
            <a:endParaRPr lang="en-US" sz="800" dirty="0"/>
          </a:p>
        </p:txBody>
      </p:sp>
      <p:sp>
        <p:nvSpPr>
          <p:cNvPr id="63" name="Text 55"/>
          <p:cNvSpPr/>
          <p:nvPr/>
        </p:nvSpPr>
        <p:spPr>
          <a:xfrm>
            <a:off x="5272088" y="4029075"/>
            <a:ext cx="1426797" cy="357188"/>
          </a:xfrm>
          <a:prstGeom prst="rect">
            <a:avLst/>
          </a:prstGeom>
          <a:noFill/>
          <a:ln/>
        </p:spPr>
        <p:txBody>
          <a:bodyPr wrap="square" lIns="170053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기준값</a:t>
            </a:r>
            <a:endParaRPr lang="en-US" sz="800" dirty="0"/>
          </a:p>
        </p:txBody>
      </p:sp>
      <p:sp>
        <p:nvSpPr>
          <p:cNvPr id="64" name="Shape 56"/>
          <p:cNvSpPr/>
          <p:nvPr/>
        </p:nvSpPr>
        <p:spPr>
          <a:xfrm>
            <a:off x="6698884" y="4029075"/>
            <a:ext cx="2087928" cy="357188"/>
          </a:xfrm>
          <a:prstGeom prst="rect">
            <a:avLst/>
          </a:prstGeom>
          <a:solidFill>
            <a:srgbClr val="FFF0EB"/>
          </a:solidFill>
          <a:ln/>
        </p:spPr>
      </p:sp>
      <p:sp>
        <p:nvSpPr>
          <p:cNvPr id="65" name="Shape 57"/>
          <p:cNvSpPr/>
          <p:nvPr/>
        </p:nvSpPr>
        <p:spPr>
          <a:xfrm>
            <a:off x="6698884" y="4379119"/>
            <a:ext cx="2087928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6" name="Text 58"/>
          <p:cNvSpPr/>
          <p:nvPr/>
        </p:nvSpPr>
        <p:spPr>
          <a:xfrm>
            <a:off x="6698884" y="4029075"/>
            <a:ext cx="2087928" cy="357188"/>
          </a:xfrm>
          <a:prstGeom prst="rect">
            <a:avLst/>
          </a:prstGeom>
          <a:noFill/>
          <a:ln/>
        </p:spPr>
        <p:txBody>
          <a:bodyPr wrap="square" lIns="170053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+25% 향상</a:t>
            </a:r>
            <a:endParaRPr lang="en-US" sz="800" dirty="0"/>
          </a:p>
        </p:txBody>
      </p:sp>
      <p:sp>
        <p:nvSpPr>
          <p:cNvPr id="67" name="Text 59"/>
          <p:cNvSpPr/>
          <p:nvPr/>
        </p:nvSpPr>
        <p:spPr>
          <a:xfrm>
            <a:off x="2928938" y="4386263"/>
            <a:ext cx="2343150" cy="357188"/>
          </a:xfrm>
          <a:prstGeom prst="rect">
            <a:avLst/>
          </a:prstGeom>
          <a:noFill/>
          <a:ln/>
        </p:spPr>
        <p:txBody>
          <a:bodyPr wrap="square" lIns="170053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요소수 품절 발생</a:t>
            </a:r>
            <a:endParaRPr lang="en-US" sz="800" dirty="0"/>
          </a:p>
        </p:txBody>
      </p:sp>
      <p:sp>
        <p:nvSpPr>
          <p:cNvPr id="68" name="Text 60"/>
          <p:cNvSpPr/>
          <p:nvPr/>
        </p:nvSpPr>
        <p:spPr>
          <a:xfrm>
            <a:off x="5272088" y="4386263"/>
            <a:ext cx="1426797" cy="357188"/>
          </a:xfrm>
          <a:prstGeom prst="rect">
            <a:avLst/>
          </a:prstGeom>
          <a:noFill/>
          <a:ln/>
        </p:spPr>
        <p:txBody>
          <a:bodyPr wrap="square" lIns="170053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월 2~3회</a:t>
            </a:r>
            <a:endParaRPr lang="en-US" sz="800" dirty="0"/>
          </a:p>
        </p:txBody>
      </p:sp>
      <p:sp>
        <p:nvSpPr>
          <p:cNvPr id="69" name="Shape 61"/>
          <p:cNvSpPr/>
          <p:nvPr/>
        </p:nvSpPr>
        <p:spPr>
          <a:xfrm>
            <a:off x="6698884" y="4386263"/>
            <a:ext cx="2087928" cy="357188"/>
          </a:xfrm>
          <a:prstGeom prst="rect">
            <a:avLst/>
          </a:prstGeom>
          <a:solidFill>
            <a:srgbClr val="FFF0EB"/>
          </a:solidFill>
          <a:ln/>
        </p:spPr>
      </p:sp>
      <p:sp>
        <p:nvSpPr>
          <p:cNvPr id="70" name="Text 62"/>
          <p:cNvSpPr/>
          <p:nvPr/>
        </p:nvSpPr>
        <p:spPr>
          <a:xfrm>
            <a:off x="6698884" y="4386263"/>
            <a:ext cx="2087928" cy="357188"/>
          </a:xfrm>
          <a:prstGeom prst="rect">
            <a:avLst/>
          </a:prstGeom>
          <a:noFill/>
          <a:ln/>
        </p:spPr>
        <p:txBody>
          <a:bodyPr wrap="square" lIns="170053" tIns="0" rIns="0" bIns="0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0회 (Zero)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COMPETITIVE ADVANTAGE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46572"/>
            <a:ext cx="2000250" cy="162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9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오피넷·카카오맵과
다르다 —
FUEL LINK만의
3가지 차별점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2928938" y="785813"/>
            <a:ext cx="5857875" cy="1671638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28938" y="785813"/>
            <a:ext cx="1171575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3"/>
          <p:cNvSpPr/>
          <p:nvPr/>
        </p:nvSpPr>
        <p:spPr>
          <a:xfrm>
            <a:off x="4086225" y="785813"/>
            <a:ext cx="14288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Shape 14"/>
          <p:cNvSpPr/>
          <p:nvPr/>
        </p:nvSpPr>
        <p:spPr>
          <a:xfrm>
            <a:off x="2928938" y="1128713"/>
            <a:ext cx="117157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5"/>
          <p:cNvSpPr/>
          <p:nvPr/>
        </p:nvSpPr>
        <p:spPr>
          <a:xfrm>
            <a:off x="2928938" y="785813"/>
            <a:ext cx="1171575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비교 항목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100513" y="785813"/>
            <a:ext cx="2343150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7"/>
          <p:cNvSpPr/>
          <p:nvPr/>
        </p:nvSpPr>
        <p:spPr>
          <a:xfrm>
            <a:off x="6429375" y="785813"/>
            <a:ext cx="14288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Shape 18"/>
          <p:cNvSpPr/>
          <p:nvPr/>
        </p:nvSpPr>
        <p:spPr>
          <a:xfrm>
            <a:off x="4100513" y="1128713"/>
            <a:ext cx="234315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Shape 19"/>
          <p:cNvSpPr/>
          <p:nvPr/>
        </p:nvSpPr>
        <p:spPr>
          <a:xfrm>
            <a:off x="4100513" y="785813"/>
            <a:ext cx="14288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0"/>
          <p:cNvSpPr/>
          <p:nvPr/>
        </p:nvSpPr>
        <p:spPr>
          <a:xfrm>
            <a:off x="4100513" y="785813"/>
            <a:ext cx="23431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기존 서비스 (오피넷 등)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443663" y="785813"/>
            <a:ext cx="2343150" cy="357188"/>
          </a:xfrm>
          <a:prstGeom prst="rect">
            <a:avLst/>
          </a:prstGeom>
          <a:solidFill>
            <a:srgbClr val="FF4B00"/>
          </a:solidFill>
          <a:ln/>
        </p:spPr>
      </p:sp>
      <p:sp>
        <p:nvSpPr>
          <p:cNvPr id="25" name="Shape 22"/>
          <p:cNvSpPr/>
          <p:nvPr/>
        </p:nvSpPr>
        <p:spPr>
          <a:xfrm>
            <a:off x="6443663" y="1128713"/>
            <a:ext cx="234315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6" name="Shape 23"/>
          <p:cNvSpPr/>
          <p:nvPr/>
        </p:nvSpPr>
        <p:spPr>
          <a:xfrm>
            <a:off x="6443663" y="785813"/>
            <a:ext cx="14288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4"/>
          <p:cNvSpPr/>
          <p:nvPr/>
        </p:nvSpPr>
        <p:spPr>
          <a:xfrm>
            <a:off x="6443663" y="785813"/>
            <a:ext cx="23431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FUEL LINK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928938" y="1143000"/>
            <a:ext cx="1171575" cy="428625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29" name="Shape 26"/>
          <p:cNvSpPr/>
          <p:nvPr/>
        </p:nvSpPr>
        <p:spPr>
          <a:xfrm>
            <a:off x="2928938" y="1143000"/>
            <a:ext cx="117157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0" name="Shape 27"/>
          <p:cNvSpPr/>
          <p:nvPr/>
        </p:nvSpPr>
        <p:spPr>
          <a:xfrm>
            <a:off x="4086225" y="1143000"/>
            <a:ext cx="14288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Shape 28"/>
          <p:cNvSpPr/>
          <p:nvPr/>
        </p:nvSpPr>
        <p:spPr>
          <a:xfrm>
            <a:off x="2928938" y="1557338"/>
            <a:ext cx="117157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Text 29"/>
          <p:cNvSpPr/>
          <p:nvPr/>
        </p:nvSpPr>
        <p:spPr>
          <a:xfrm>
            <a:off x="2928938" y="1143000"/>
            <a:ext cx="11715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주요 타겟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100513" y="1143000"/>
            <a:ext cx="23431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일반 소비자 중심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6443663" y="1143000"/>
            <a:ext cx="2343150" cy="428625"/>
          </a:xfrm>
          <a:prstGeom prst="rect">
            <a:avLst/>
          </a:prstGeom>
          <a:solidFill>
            <a:srgbClr val="FFF0EB"/>
          </a:solidFill>
          <a:ln/>
        </p:spPr>
      </p:sp>
      <p:sp>
        <p:nvSpPr>
          <p:cNvPr id="35" name="Shape 32"/>
          <p:cNvSpPr/>
          <p:nvPr/>
        </p:nvSpPr>
        <p:spPr>
          <a:xfrm>
            <a:off x="6443663" y="1143000"/>
            <a:ext cx="234315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Shape 33"/>
          <p:cNvSpPr/>
          <p:nvPr/>
        </p:nvSpPr>
        <p:spPr>
          <a:xfrm>
            <a:off x="6443663" y="1557338"/>
            <a:ext cx="234315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7" name="Shape 34"/>
          <p:cNvSpPr/>
          <p:nvPr/>
        </p:nvSpPr>
        <p:spPr>
          <a:xfrm>
            <a:off x="6443663" y="1143000"/>
            <a:ext cx="14288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8" name="Text 35"/>
          <p:cNvSpPr/>
          <p:nvPr/>
        </p:nvSpPr>
        <p:spPr>
          <a:xfrm>
            <a:off x="6443663" y="1143000"/>
            <a:ext cx="23431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주유소 사장님 + 소비자 (B2B2C)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2928938" y="1571625"/>
            <a:ext cx="1171575" cy="428625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40" name="Shape 37"/>
          <p:cNvSpPr/>
          <p:nvPr/>
        </p:nvSpPr>
        <p:spPr>
          <a:xfrm>
            <a:off x="2928938" y="1571625"/>
            <a:ext cx="117157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1" name="Shape 38"/>
          <p:cNvSpPr/>
          <p:nvPr/>
        </p:nvSpPr>
        <p:spPr>
          <a:xfrm>
            <a:off x="4086225" y="1571625"/>
            <a:ext cx="14288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2" name="Shape 39"/>
          <p:cNvSpPr/>
          <p:nvPr/>
        </p:nvSpPr>
        <p:spPr>
          <a:xfrm>
            <a:off x="2928938" y="1985963"/>
            <a:ext cx="117157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3" name="Text 40"/>
          <p:cNvSpPr/>
          <p:nvPr/>
        </p:nvSpPr>
        <p:spPr>
          <a:xfrm>
            <a:off x="2928938" y="1571625"/>
            <a:ext cx="11715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재고 업데이트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4100513" y="1571625"/>
            <a:ext cx="23431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수동 입력 (지연 발생)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6443663" y="1571625"/>
            <a:ext cx="2343150" cy="428625"/>
          </a:xfrm>
          <a:prstGeom prst="rect">
            <a:avLst/>
          </a:prstGeom>
          <a:solidFill>
            <a:srgbClr val="FFF0EB"/>
          </a:solidFill>
          <a:ln/>
        </p:spPr>
      </p:sp>
      <p:sp>
        <p:nvSpPr>
          <p:cNvPr id="46" name="Shape 43"/>
          <p:cNvSpPr/>
          <p:nvPr/>
        </p:nvSpPr>
        <p:spPr>
          <a:xfrm>
            <a:off x="6443663" y="1571625"/>
            <a:ext cx="234315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7" name="Shape 44"/>
          <p:cNvSpPr/>
          <p:nvPr/>
        </p:nvSpPr>
        <p:spPr>
          <a:xfrm>
            <a:off x="6443663" y="1985963"/>
            <a:ext cx="234315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8" name="Shape 45"/>
          <p:cNvSpPr/>
          <p:nvPr/>
        </p:nvSpPr>
        <p:spPr>
          <a:xfrm>
            <a:off x="6443663" y="1571625"/>
            <a:ext cx="14288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9" name="Text 46"/>
          <p:cNvSpPr/>
          <p:nvPr/>
        </p:nvSpPr>
        <p:spPr>
          <a:xfrm>
            <a:off x="6443663" y="1571625"/>
            <a:ext cx="23431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실시간 연동 + AI 자동 발주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2928938" y="2000250"/>
            <a:ext cx="1171575" cy="428625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51" name="Shape 48"/>
          <p:cNvSpPr/>
          <p:nvPr/>
        </p:nvSpPr>
        <p:spPr>
          <a:xfrm>
            <a:off x="2928938" y="2000250"/>
            <a:ext cx="1171575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2" name="Shape 49"/>
          <p:cNvSpPr/>
          <p:nvPr/>
        </p:nvSpPr>
        <p:spPr>
          <a:xfrm>
            <a:off x="4086225" y="2000250"/>
            <a:ext cx="14288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3" name="Text 50"/>
          <p:cNvSpPr/>
          <p:nvPr/>
        </p:nvSpPr>
        <p:spPr>
          <a:xfrm>
            <a:off x="2928938" y="2000250"/>
            <a:ext cx="117157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고객 관리(CRM)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4100513" y="2000250"/>
            <a:ext cx="23431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없음 (단순 정보 제공)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6443663" y="2000250"/>
            <a:ext cx="2343150" cy="428625"/>
          </a:xfrm>
          <a:prstGeom prst="rect">
            <a:avLst/>
          </a:prstGeom>
          <a:solidFill>
            <a:srgbClr val="FFF0EB"/>
          </a:solidFill>
          <a:ln/>
        </p:spPr>
      </p:sp>
      <p:sp>
        <p:nvSpPr>
          <p:cNvPr id="56" name="Shape 53"/>
          <p:cNvSpPr/>
          <p:nvPr/>
        </p:nvSpPr>
        <p:spPr>
          <a:xfrm>
            <a:off x="6443663" y="2000250"/>
            <a:ext cx="234315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7" name="Shape 54"/>
          <p:cNvSpPr/>
          <p:nvPr/>
        </p:nvSpPr>
        <p:spPr>
          <a:xfrm>
            <a:off x="6443663" y="2000250"/>
            <a:ext cx="14288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8" name="Text 55"/>
          <p:cNvSpPr/>
          <p:nvPr/>
        </p:nvSpPr>
        <p:spPr>
          <a:xfrm>
            <a:off x="6443663" y="2000250"/>
            <a:ext cx="23431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포인트, 차량 관리, 입고 알림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2928938" y="2714625"/>
            <a:ext cx="1833544" cy="1564481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107531" y="2893219"/>
            <a:ext cx="555427" cy="171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8"/>
          <p:cNvSpPr/>
          <p:nvPr/>
        </p:nvSpPr>
        <p:spPr>
          <a:xfrm>
            <a:off x="3107531" y="2893219"/>
            <a:ext cx="555427" cy="171450"/>
          </a:xfrm>
          <a:prstGeom prst="rect">
            <a:avLst/>
          </a:prstGeom>
          <a:noFill/>
          <a:ln/>
        </p:spPr>
        <p:txBody>
          <a:bodyPr wrap="none" lIns="85090" tIns="34036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POINT 01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3107531" y="3171825"/>
            <a:ext cx="147635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주유소 전용
관리 앱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3107531" y="3650456"/>
            <a:ext cx="147635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단순 정보 노출을 넘어, 사장님이 직접 재고와 가격을 통제하고 관리하는 B2B 특화 플랫폼입니다.</a:t>
            </a:r>
            <a:endParaRPr lang="en-US" sz="750" dirty="0"/>
          </a:p>
        </p:txBody>
      </p:sp>
      <p:sp>
        <p:nvSpPr>
          <p:cNvPr id="64" name="Shape 61"/>
          <p:cNvSpPr/>
          <p:nvPr/>
        </p:nvSpPr>
        <p:spPr>
          <a:xfrm>
            <a:off x="4941075" y="2714625"/>
            <a:ext cx="1833572" cy="1564481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119669" y="2893219"/>
            <a:ext cx="569714" cy="171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3"/>
          <p:cNvSpPr/>
          <p:nvPr/>
        </p:nvSpPr>
        <p:spPr>
          <a:xfrm>
            <a:off x="5119669" y="2893219"/>
            <a:ext cx="569714" cy="171450"/>
          </a:xfrm>
          <a:prstGeom prst="rect">
            <a:avLst/>
          </a:prstGeom>
          <a:noFill/>
          <a:ln/>
        </p:spPr>
        <p:txBody>
          <a:bodyPr wrap="none" lIns="85090" tIns="34036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POINT 02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5119669" y="3171825"/>
            <a:ext cx="147638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 기반
자동 발주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5119669" y="3650456"/>
            <a:ext cx="147638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수동으로 재고를 확인하고 주문할 필요 없이, 30% 임계값 도달 시 AI가 선제적으로 발주를 요청합니다.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6953241" y="2714625"/>
            <a:ext cx="1833544" cy="1564481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131834" y="2893219"/>
            <a:ext cx="571500" cy="171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1" name="Text 68"/>
          <p:cNvSpPr/>
          <p:nvPr/>
        </p:nvSpPr>
        <p:spPr>
          <a:xfrm>
            <a:off x="7131834" y="2893219"/>
            <a:ext cx="571500" cy="171450"/>
          </a:xfrm>
          <a:prstGeom prst="rect">
            <a:avLst/>
          </a:prstGeom>
          <a:noFill/>
          <a:ln/>
        </p:spPr>
        <p:txBody>
          <a:bodyPr wrap="none" lIns="85090" tIns="34036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POINT 03</a:t>
            </a:r>
            <a:endParaRPr lang="en-US" sz="700" dirty="0"/>
          </a:p>
        </p:txBody>
      </p:sp>
      <p:sp>
        <p:nvSpPr>
          <p:cNvPr id="72" name="Text 69"/>
          <p:cNvSpPr/>
          <p:nvPr/>
        </p:nvSpPr>
        <p:spPr>
          <a:xfrm>
            <a:off x="7131834" y="3171825"/>
            <a:ext cx="147635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고객 CRM
연동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7131834" y="3650456"/>
            <a:ext cx="147635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A0A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일회성 방문객을 단골로 전환하기 위한 포인트 적립 및 맞춤형 차량 관리 알림 서비스를 제공합니다.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ROADMAP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46572"/>
            <a:ext cx="2000250" cy="1302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9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12개월 안에
앱 출시 —
단계별 실행
로드맵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2928938" y="714375"/>
            <a:ext cx="5857875" cy="200025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8096" y="857250"/>
            <a:ext cx="3599557" cy="178593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928938" y="2928938"/>
            <a:ext cx="1857375" cy="1092994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071813" y="3071813"/>
            <a:ext cx="485775" cy="157163"/>
          </a:xfrm>
          <a:prstGeom prst="rect">
            <a:avLst/>
          </a:prstGeom>
          <a:solidFill>
            <a:srgbClr val="FF4B00"/>
          </a:solidFill>
          <a:ln/>
        </p:spPr>
      </p:sp>
      <p:sp>
        <p:nvSpPr>
          <p:cNvPr id="18" name="Text 14"/>
          <p:cNvSpPr/>
          <p:nvPr/>
        </p:nvSpPr>
        <p:spPr>
          <a:xfrm>
            <a:off x="3071813" y="3071813"/>
            <a:ext cx="485775" cy="157163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M1 - M4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3071813" y="3300413"/>
            <a:ext cx="15716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Phase 1: 기획 및 개발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071813" y="3543300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UI/UX 설계 및 프로토타이핑
AI 재고 예측 알고리즘 개발
핵심 기능(자동 발주) 구현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4929188" y="2928938"/>
            <a:ext cx="1857375" cy="1092994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72063" y="3071813"/>
            <a:ext cx="494705" cy="157163"/>
          </a:xfrm>
          <a:prstGeom prst="rect">
            <a:avLst/>
          </a:prstGeom>
          <a:solidFill>
            <a:srgbClr val="FF4B00"/>
          </a:solidFill>
          <a:ln/>
        </p:spPr>
      </p:sp>
      <p:sp>
        <p:nvSpPr>
          <p:cNvPr id="23" name="Text 19"/>
          <p:cNvSpPr/>
          <p:nvPr/>
        </p:nvSpPr>
        <p:spPr>
          <a:xfrm>
            <a:off x="5072063" y="3071813"/>
            <a:ext cx="494705" cy="157163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M5 - M8</a:t>
            </a:r>
            <a:endParaRPr lang="en-US" sz="600" dirty="0"/>
          </a:p>
        </p:txBody>
      </p:sp>
      <p:sp>
        <p:nvSpPr>
          <p:cNvPr id="24" name="Text 20"/>
          <p:cNvSpPr/>
          <p:nvPr/>
        </p:nvSpPr>
        <p:spPr>
          <a:xfrm>
            <a:off x="5072063" y="3300413"/>
            <a:ext cx="15716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Phase 2: 베타 테스트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072063" y="3543300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수도권 50개 주유소 대상 CBT
사용자 피드백 수집 및 분석
시스템 안정화 및 버그 수정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6929438" y="2928938"/>
            <a:ext cx="1857375" cy="1092994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072313" y="3071813"/>
            <a:ext cx="542925" cy="157163"/>
          </a:xfrm>
          <a:prstGeom prst="rect">
            <a:avLst/>
          </a:prstGeom>
          <a:solidFill>
            <a:srgbClr val="FF4B00"/>
          </a:solidFill>
          <a:ln/>
        </p:spPr>
      </p:sp>
      <p:sp>
        <p:nvSpPr>
          <p:cNvPr id="28" name="Text 24"/>
          <p:cNvSpPr/>
          <p:nvPr/>
        </p:nvSpPr>
        <p:spPr>
          <a:xfrm>
            <a:off x="7072313" y="3071813"/>
            <a:ext cx="542925" cy="157163"/>
          </a:xfrm>
          <a:prstGeom prst="rect">
            <a:avLst/>
          </a:prstGeom>
          <a:noFill/>
          <a:ln/>
        </p:spPr>
        <p:txBody>
          <a:bodyPr wrap="none" lIns="68072" tIns="34036" rIns="68072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M9 - M12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7072313" y="3300413"/>
            <a:ext cx="15716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Phase 3: 정식 출시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7072313" y="3543300"/>
            <a:ext cx="157162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전국 주유소 대상 서비스 오픈
B2B 영업 및 마케팅 전개
고객용 앱(B2C) 동시 런칭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2928938" y="4214813"/>
            <a:ext cx="5857875" cy="642938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3143250" y="4530030"/>
            <a:ext cx="8001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투자 계획 요약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4157663" y="4436269"/>
            <a:ext cx="44148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초기 개발비 및 인건비 </a:t>
            </a:r>
            <a:r>
              <a:rPr lang="en-US" sz="8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60%</a:t>
            </a:r>
            <a:r>
              <a:rPr lang="en-US" sz="8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, 베타 테스트 및 인프라 구축 </a:t>
            </a:r>
            <a:r>
              <a:rPr lang="en-US" sz="8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20%</a:t>
            </a:r>
            <a:r>
              <a:rPr lang="en-US" sz="8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, 정식 출시 마케팅 및 영업 </a:t>
            </a:r>
            <a:r>
              <a:rPr lang="en-US" sz="8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20%</a:t>
            </a:r>
            <a:r>
              <a:rPr lang="en-US" sz="85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배분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46572"/>
            <a:ext cx="2000250" cy="977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9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구독 + 수수료
이중 수익 모델로
지속 성장한다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2928938" y="714375"/>
            <a:ext cx="2839641" cy="146268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07531" y="892969"/>
            <a:ext cx="248245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BASIC PLAN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107531" y="1146572"/>
            <a:ext cx="248245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-1" dirty="0">
                <a:solidFill>
                  <a:srgbClr val="6666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39,000원 / 월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107531" y="1544836"/>
            <a:ext cx="2482453" cy="603647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- 실시간 재고 모니터링
- 기본 대시보드 제공
- 입고 알림 시스템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947172" y="714375"/>
            <a:ext cx="2839641" cy="1462683"/>
          </a:xfrm>
          <a:prstGeom prst="rect">
            <a:avLst/>
          </a:prstGeom>
          <a:solidFill>
            <a:srgbClr val="FFFFFF"/>
          </a:solidFill>
          <a:ln w="18288">
            <a:solidFill>
              <a:srgbClr val="FF4B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5766" y="892969"/>
            <a:ext cx="248245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 PLAN (CORE)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25766" y="1146572"/>
            <a:ext cx="248245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-1" dirty="0">
                <a:solidFill>
                  <a:srgbClr val="66666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99,000원 / 월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25766" y="1544836"/>
            <a:ext cx="2482453" cy="603647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- AI 자동 발주 시스템
- 주변 경쟁사 가격 분석
- 고객 CRM 및 포인트 연동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2928938" y="2327077"/>
            <a:ext cx="2839641" cy="785813"/>
          </a:xfrm>
          <a:prstGeom prst="rect">
            <a:avLst/>
          </a:prstGeom>
          <a:solidFill>
            <a:srgbClr val="F4F4F6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071813" y="2469952"/>
            <a:ext cx="701873" cy="1714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4" name="Text 21"/>
          <p:cNvSpPr/>
          <p:nvPr/>
        </p:nvSpPr>
        <p:spPr>
          <a:xfrm>
            <a:off x="3071813" y="2469952"/>
            <a:ext cx="701873" cy="171450"/>
          </a:xfrm>
          <a:prstGeom prst="rect">
            <a:avLst/>
          </a:prstGeom>
          <a:noFill/>
          <a:ln/>
        </p:spPr>
        <p:txBody>
          <a:bodyPr wrap="none" lIns="85090" tIns="34036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추가 수익 01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071813" y="2712839"/>
            <a:ext cx="25538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B2B 데이터 판매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071813" y="2920008"/>
            <a:ext cx="255389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정유사 및 물류 기업 대상 지역별 재고/가격 데이터 제공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947172" y="2327077"/>
            <a:ext cx="2839641" cy="785813"/>
          </a:xfrm>
          <a:prstGeom prst="rect">
            <a:avLst/>
          </a:prstGeom>
          <a:solidFill>
            <a:srgbClr val="F4F4F6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90047" y="2469952"/>
            <a:ext cx="716161" cy="1714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6"/>
          <p:cNvSpPr/>
          <p:nvPr/>
        </p:nvSpPr>
        <p:spPr>
          <a:xfrm>
            <a:off x="6090047" y="2469952"/>
            <a:ext cx="716161" cy="171450"/>
          </a:xfrm>
          <a:prstGeom prst="rect">
            <a:avLst/>
          </a:prstGeom>
          <a:noFill/>
          <a:ln/>
        </p:spPr>
        <p:txBody>
          <a:bodyPr wrap="none" lIns="85090" tIns="34036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추가 수익 02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090047" y="2712839"/>
            <a:ext cx="25538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 맞춤형 광고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6090047" y="2920008"/>
            <a:ext cx="255389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앱 내 자동차 용품, 보험 등 운전자 타겟 맞춤형 광고 유치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2928938" y="3327202"/>
            <a:ext cx="5857875" cy="928688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143250" y="3505795"/>
            <a:ext cx="5429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3-YEAR GROWTH TARGET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143250" y="3759398"/>
            <a:ext cx="212169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1년 차 (Year 1)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3143250" y="3930848"/>
            <a:ext cx="2121694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500개 주유소 확보 (BEP 달성)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608737" y="3842445"/>
            <a:ext cx="17145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123980" y="3759398"/>
            <a:ext cx="244852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3년 차 (Year 3)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6123980" y="3930848"/>
            <a:ext cx="244852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전국 3,000개 주유소 (점유율 25%)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EXPECTED EFFECTS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46572"/>
            <a:ext cx="2000250" cy="162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9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FUEL LINK 도입 시
주유소 경영이
이렇게 달라집니다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2928938" y="785813"/>
            <a:ext cx="1833544" cy="1903809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07531" y="1000125"/>
            <a:ext cx="1476356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107531" y="1398389"/>
            <a:ext cx="1476356" cy="2982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운영 효율화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107531" y="1803797"/>
            <a:ext cx="147635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재고 관리 시간 70% 단축</a:t>
            </a: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8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 AI 자동 발주 시스템으로 사장님의 업무 피로도 획기적 감소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941075" y="785813"/>
            <a:ext cx="1833572" cy="1903809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19669" y="1000125"/>
            <a:ext cx="1476384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19669" y="1398389"/>
            <a:ext cx="1476384" cy="2982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매출 증대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19669" y="1803797"/>
            <a:ext cx="147638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품절 방지로 기회 손실 제로</a:t>
            </a: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8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 포인트 및 차량 관리 서비스를 통한 단골 고객 확보로 안정적 수익 창출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953241" y="785813"/>
            <a:ext cx="1833544" cy="1903809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1834" y="1000125"/>
            <a:ext cx="1476356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131834" y="1398389"/>
            <a:ext cx="1476356" cy="2982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리스크 대응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131834" y="1803797"/>
            <a:ext cx="147635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유가 변동 및 공급망 위기 시 선제적 대응</a:t>
            </a:r>
            <a:r>
              <a:rPr lang="en-US" sz="800" b="1" dirty="0">
                <a:solidFill>
                  <a:srgbClr val="3333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8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 데이터 기반의 최적 가격 설정으로 경쟁력 확보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928938" y="3018234"/>
            <a:ext cx="5857875" cy="1285875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87293" y="3303984"/>
            <a:ext cx="741164" cy="200025"/>
          </a:xfrm>
          <a:prstGeom prst="rect">
            <a:avLst/>
          </a:prstGeom>
          <a:solidFill>
            <a:srgbClr val="FF4B00"/>
          </a:solidFill>
          <a:ln/>
        </p:spPr>
      </p:sp>
      <p:sp>
        <p:nvSpPr>
          <p:cNvPr id="28" name="Text 25"/>
          <p:cNvSpPr/>
          <p:nvPr/>
        </p:nvSpPr>
        <p:spPr>
          <a:xfrm>
            <a:off x="5487293" y="3303984"/>
            <a:ext cx="741164" cy="200025"/>
          </a:xfrm>
          <a:prstGeom prst="rect">
            <a:avLst/>
          </a:prstGeom>
          <a:noFill/>
          <a:ln/>
        </p:spPr>
        <p:txBody>
          <a:bodyPr wrap="none" lIns="127508" tIns="34036" rIns="127508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kern="0" spc="2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JOIN US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36281" y="3646884"/>
            <a:ext cx="2643188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kern="0" spc="-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베타 파트너 주유소 모집 중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242495" y="4063008"/>
            <a:ext cx="32307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선착순 50개소 한정 </a:t>
            </a:r>
            <a:r>
              <a:rPr lang="en-US" sz="9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가입비 면제 및 6개월 무료 혜택</a:t>
            </a:r>
            <a:r>
              <a:rPr lang="en-US" sz="9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 제공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Q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300000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ko-KR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</a:rPr>
              <a:t>SCQA 한눈에 보기</a:t>
            </a:r>
            <a:endParaRPr lang="ko-KR" sz="700" dirty="0"/>
          </a:p>
        </p:txBody>
      </p:sp>
      <p:sp>
        <p:nvSpPr>
          <p:cNvPr id="6" name="Shape BG"/>
          <p:cNvSpPr/>
          <p:nvPr/>
        </p:nvSpPr>
        <p:spPr>
          <a:xfrm>
            <a:off x="0" y="428625"/>
            <a:ext cx="9144000" cy="4714875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10" name="S Box"/>
          <p:cNvSpPr/>
          <p:nvPr/>
        </p:nvSpPr>
        <p:spPr>
          <a:xfrm>
            <a:off x="142875" y="571500"/>
            <a:ext cx="4228875" cy="1900350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</a:ln>
        </p:spPr>
      </p:sp>
      <p:sp>
        <p:nvSpPr>
          <p:cNvPr id="11" name="S Label"/>
          <p:cNvSpPr/>
          <p:nvPr/>
        </p:nvSpPr>
        <p:spPr>
          <a:xfrm>
            <a:off x="285750" y="628650"/>
            <a:ext cx="300000" cy="25717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lIns="0" tIns="28575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Arial" pitchFamily="34" charset="0"/>
              </a:rPr>
              <a:t>S</a:t>
            </a:r>
            <a:endParaRPr lang="en-US" sz="1100" dirty="0"/>
          </a:p>
        </p:txBody>
      </p:sp>
      <p:sp>
        <p:nvSpPr>
          <p:cNvPr id="12" name="S Title"/>
          <p:cNvSpPr/>
          <p:nvPr/>
        </p:nvSpPr>
        <p:spPr>
          <a:xfrm>
            <a:off x="628650" y="628650"/>
            <a:ext cx="360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ko-KR" sz="900" b="1" kern="0" dirty="0">
                <a:solidFill>
                  <a:srgbClr val="FF4B00"/>
                </a:solidFill>
                <a:latin typeface="Arial" pitchFamily="34" charset="0"/>
                <a:ea typeface="Arial" pitchFamily="34" charset="-122"/>
              </a:rPr>
              <a:t>Situation (상황)</a:t>
            </a:r>
            <a:endParaRPr lang="ko-KR" sz="900" dirty="0"/>
          </a:p>
        </p:txBody>
      </p:sp>
      <p:sp>
        <p:nvSpPr>
          <p:cNvPr id="13" name="S Body"/>
          <p:cNvSpPr/>
          <p:nvPr/>
        </p:nvSpPr>
        <p:spPr>
          <a:xfrm>
            <a:off x="285750" y="885825"/>
            <a:ext cx="394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sz="800" b="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</a:rPr>
              <a:t>전국 11,500개 주유소는 매일 재고와 가격 두 가지 핵심 자원을 관리해야 합니다. 그러나 이 두 변수 모두 외부 환경에 극도로 취약하며, 수독권 이외 지방 주유소는 공급망에서 소외되고 있습니다.</a:t>
            </a:r>
            <a:endParaRPr lang="ko-KR" sz="800" dirty="0"/>
          </a:p>
        </p:txBody>
      </p:sp>
      <p:sp>
        <p:nvSpPr>
          <p:cNvPr id="20" name="C Box"/>
          <p:cNvSpPr/>
          <p:nvPr/>
        </p:nvSpPr>
        <p:spPr>
          <a:xfrm>
            <a:off x="4800375" y="571500"/>
            <a:ext cx="4228875" cy="1900350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</a:ln>
        </p:spPr>
      </p:sp>
      <p:sp>
        <p:nvSpPr>
          <p:cNvPr id="21" name="C Label"/>
          <p:cNvSpPr/>
          <p:nvPr/>
        </p:nvSpPr>
        <p:spPr>
          <a:xfrm>
            <a:off x="4943250" y="628650"/>
            <a:ext cx="300000" cy="257175"/>
          </a:xfrm>
          <a:prstGeom prst="rect">
            <a:avLst/>
          </a:prstGeom>
          <a:solidFill>
            <a:srgbClr val="1A1A1A"/>
          </a:solidFill>
          <a:ln/>
        </p:spPr>
        <p:txBody>
          <a:bodyPr wrap="none" lIns="0" tIns="28575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Arial" pitchFamily="34" charset="0"/>
              </a:rPr>
              <a:t>C</a:t>
            </a:r>
            <a:endParaRPr lang="en-US" sz="1100" dirty="0"/>
          </a:p>
        </p:txBody>
      </p:sp>
      <p:sp>
        <p:nvSpPr>
          <p:cNvPr id="22" name="C Title"/>
          <p:cNvSpPr/>
          <p:nvPr/>
        </p:nvSpPr>
        <p:spPr>
          <a:xfrm>
            <a:off x="5286150" y="628650"/>
            <a:ext cx="360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ko-KR" sz="900" b="1" kern="0" dirty="0">
                <a:solidFill>
                  <a:srgbClr val="FF4B00"/>
                </a:solidFill>
                <a:latin typeface="Arial" pitchFamily="34" charset="0"/>
                <a:ea typeface="Arial" pitchFamily="34" charset="-122"/>
              </a:rPr>
              <a:t>Complication (문제)</a:t>
            </a:r>
            <a:endParaRPr lang="ko-KR" sz="900" dirty="0"/>
          </a:p>
        </p:txBody>
      </p:sp>
      <p:sp>
        <p:nvSpPr>
          <p:cNvPr id="23" name="C Body"/>
          <p:cNvSpPr/>
          <p:nvPr/>
        </p:nvSpPr>
        <p:spPr>
          <a:xfrm>
            <a:off x="4943250" y="885825"/>
            <a:ext cx="394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sz="800" b="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</a:rPr>
              <a:t>2021년 요소수 대란과 중동 유가 변동성 확대로 공급망 리스크가 반복되고 있습니다. 실시간 정보 부재로 재고 부족과 가격 대응 실패가 반복되며, 주유소의 연평균 폐업률은 2~3%로 지속 증가하고 있습니다.</a:t>
            </a:r>
            <a:endParaRPr lang="ko-KR" sz="800" dirty="0"/>
          </a:p>
        </p:txBody>
      </p:sp>
      <p:sp>
        <p:nvSpPr>
          <p:cNvPr id="30" name="Q Box"/>
          <p:cNvSpPr/>
          <p:nvPr/>
        </p:nvSpPr>
        <p:spPr>
          <a:xfrm>
            <a:off x="142875" y="2614350"/>
            <a:ext cx="4228875" cy="1928700"/>
          </a:xfrm>
          <a:prstGeom prst="rect">
            <a:avLst/>
          </a:prstGeom>
          <a:solidFill>
            <a:srgbClr val="FFFFFF"/>
          </a:solidFill>
          <a:ln w="18288">
            <a:solidFill>
              <a:srgbClr val="E0E0E0"/>
            </a:solidFill>
          </a:ln>
        </p:spPr>
      </p:sp>
      <p:sp>
        <p:nvSpPr>
          <p:cNvPr id="31" name="Q Label"/>
          <p:cNvSpPr/>
          <p:nvPr/>
        </p:nvSpPr>
        <p:spPr>
          <a:xfrm>
            <a:off x="285750" y="2671500"/>
            <a:ext cx="300000" cy="257175"/>
          </a:xfrm>
          <a:prstGeom prst="rect">
            <a:avLst/>
          </a:prstGeom>
          <a:solidFill>
            <a:srgbClr val="FF4B00"/>
          </a:solidFill>
          <a:ln/>
        </p:spPr>
        <p:txBody>
          <a:bodyPr wrap="none" lIns="0" tIns="28575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Arial" pitchFamily="34" charset="0"/>
              </a:rPr>
              <a:t>Q</a:t>
            </a:r>
            <a:endParaRPr lang="en-US" sz="1100" dirty="0"/>
          </a:p>
        </p:txBody>
      </p:sp>
      <p:sp>
        <p:nvSpPr>
          <p:cNvPr id="32" name="Q Title"/>
          <p:cNvSpPr/>
          <p:nvPr/>
        </p:nvSpPr>
        <p:spPr>
          <a:xfrm>
            <a:off x="628650" y="2671500"/>
            <a:ext cx="360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ko-KR" sz="900" b="1" kern="0" dirty="0">
                <a:solidFill>
                  <a:srgbClr val="FF4B00"/>
                </a:solidFill>
                <a:latin typeface="Arial" pitchFamily="34" charset="0"/>
                <a:ea typeface="Arial" pitchFamily="34" charset="-122"/>
              </a:rPr>
              <a:t>Question (핵심 질문)</a:t>
            </a:r>
            <a:endParaRPr lang="ko-KR" sz="900" dirty="0"/>
          </a:p>
        </p:txBody>
      </p:sp>
      <p:sp>
        <p:nvSpPr>
          <p:cNvPr id="33" name="Q Body"/>
          <p:cNvSpPr/>
          <p:nvPr/>
        </p:nvSpPr>
        <p:spPr>
          <a:xfrm>
            <a:off x="285750" y="2928675"/>
            <a:ext cx="39420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sz="800" b="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</a:rPr>
              <a:t>요소수 대란과 유가 급등이 반복되는 시대에, 주유소 사장님은 어떻게 선제적으로 대응할 수 있을까?</a:t>
            </a:r>
            <a:endParaRPr lang="ko-KR" sz="800" dirty="0"/>
          </a:p>
        </p:txBody>
      </p:sp>
      <p:sp>
        <p:nvSpPr>
          <p:cNvPr id="40" name="A Box"/>
          <p:cNvSpPr/>
          <p:nvPr/>
        </p:nvSpPr>
        <p:spPr>
          <a:xfrm>
            <a:off x="4800375" y="2614350"/>
            <a:ext cx="4228875" cy="1928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1" name="A Label"/>
          <p:cNvSpPr/>
          <p:nvPr/>
        </p:nvSpPr>
        <p:spPr>
          <a:xfrm>
            <a:off x="4943250" y="2671500"/>
            <a:ext cx="300000" cy="257175"/>
          </a:xfrm>
          <a:prstGeom prst="rect">
            <a:avLst/>
          </a:prstGeom>
          <a:solidFill>
            <a:srgbClr val="FF4B00"/>
          </a:solidFill>
          <a:ln/>
        </p:spPr>
        <p:txBody>
          <a:bodyPr wrap="none" lIns="0" tIns="28575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FFFFFF"/>
                </a:solidFill>
                <a:latin typeface="Arial" pitchFamily="34" charset="0"/>
              </a:rPr>
              <a:t>A</a:t>
            </a:r>
            <a:endParaRPr lang="en-US" sz="1100" dirty="0"/>
          </a:p>
        </p:txBody>
      </p:sp>
      <p:sp>
        <p:nvSpPr>
          <p:cNvPr id="42" name="A Title"/>
          <p:cNvSpPr/>
          <p:nvPr/>
        </p:nvSpPr>
        <p:spPr>
          <a:xfrm>
            <a:off x="5286150" y="2671500"/>
            <a:ext cx="3600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ko-KR" sz="900" b="1" kern="0" dirty="0">
                <a:solidFill>
                  <a:srgbClr val="FF4B00"/>
                </a:solidFill>
                <a:latin typeface="Arial" pitchFamily="34" charset="0"/>
                <a:ea typeface="Arial" pitchFamily="34" charset="-122"/>
              </a:rPr>
              <a:t>Answer (통찰와 제안)</a:t>
            </a:r>
            <a:endParaRPr lang="ko-KR" sz="900" dirty="0"/>
          </a:p>
        </p:txBody>
      </p:sp>
      <p:sp>
        <p:nvSpPr>
          <p:cNvPr id="43" name="A Body"/>
          <p:cNvSpPr/>
          <p:nvPr/>
        </p:nvSpPr>
        <p:spPr>
          <a:xfrm>
            <a:off x="4943250" y="2928675"/>
            <a:ext cx="39420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sz="800" b="1" kern="0" dirty="0">
                <a:solidFill>
                  <a:srgbClr val="FF4B00"/>
                </a:solidFill>
                <a:latin typeface="Arial" pitchFamily="34" charset="0"/>
                <a:ea typeface="Arial" pitchFamily="34" charset="-122"/>
              </a:rPr>
              <a:t>FUEL LINK</a:t>
            </a:r>
            <a:r>
              <a:rPr lang="ko-KR" sz="800" b="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</a:rPr>
              <a:t>는 AI 기반 실시간 재고운 관리 및 가격 비교 플랫폼으로, 주유소 사장님이 위기를 기회로 바꾸도록 돕습니다. 자동 발주 시스템으로 품절 제로화, 고객 CRM으로 안정적 수익을 보장합니다.</a:t>
            </a:r>
            <a:endParaRPr lang="ko-KR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4286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14338"/>
            <a:ext cx="9144000" cy="142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1250156" y="146447"/>
            <a:ext cx="7500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시장동향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214563" y="146447"/>
            <a:ext cx="964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타겟산업분석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393281" y="146447"/>
            <a:ext cx="8572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솔루션제안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64844" y="146447"/>
            <a:ext cx="428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A0A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실행계획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0" y="428625"/>
            <a:ext cx="2571750" cy="4714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557463" y="428625"/>
            <a:ext cx="14288" cy="471487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857250"/>
            <a:ext cx="20002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회사소개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85750" y="1155502"/>
            <a:ext cx="20002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000" b="1" kern="0" spc="-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FUEL LINK:
데이터로 주유소 경영을 혁신하는
AI 플랫폼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000375" y="714375"/>
            <a:ext cx="5715000" cy="857250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86125" y="1094417"/>
            <a:ext cx="471130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주유소의 재고 관리와 가격 관리를 데이터 기반으로 혁신한다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000375" y="1785938"/>
            <a:ext cx="2786063" cy="110192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14688" y="1928813"/>
            <a:ext cx="228600" cy="196453"/>
          </a:xfrm>
          <a:prstGeom prst="rect">
            <a:avLst/>
          </a:prstGeom>
          <a:noFill/>
          <a:ln/>
        </p:spPr>
        <p:txBody>
          <a:bodyPr wrap="none" lIns="0" tIns="0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214688" y="2232422"/>
            <a:ext cx="235743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요소수 재고관리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214688" y="2516386"/>
            <a:ext cx="2357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실시간 재고 현황 모니터링 및 자동 발주 시스템 연동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929313" y="1785938"/>
            <a:ext cx="2786063" cy="110192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143625" y="1928813"/>
            <a:ext cx="250031" cy="196453"/>
          </a:xfrm>
          <a:prstGeom prst="rect">
            <a:avLst/>
          </a:prstGeom>
          <a:noFill/>
          <a:ln/>
        </p:spPr>
        <p:txBody>
          <a:bodyPr wrap="none" lIns="0" tIns="0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43625" y="2232422"/>
            <a:ext cx="235743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휘발유 재고관리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143625" y="2516386"/>
            <a:ext cx="2357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유가 변동성 연동 재고 최적화 AI 알고리즘 적용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000375" y="3002161"/>
            <a:ext cx="2786063" cy="110192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14688" y="3145036"/>
            <a:ext cx="251817" cy="196453"/>
          </a:xfrm>
          <a:prstGeom prst="rect">
            <a:avLst/>
          </a:prstGeom>
          <a:noFill/>
          <a:ln/>
        </p:spPr>
        <p:txBody>
          <a:bodyPr wrap="none" lIns="0" tIns="0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214688" y="3448645"/>
            <a:ext cx="235743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주변 주유소 가격 비교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214688" y="3732609"/>
            <a:ext cx="23574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반경 5km 내 경쟁사 가격 실시간 조회 및 분석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929313" y="3002161"/>
            <a:ext cx="2786063" cy="1101923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43625" y="3145036"/>
            <a:ext cx="255389" cy="196453"/>
          </a:xfrm>
          <a:prstGeom prst="rect">
            <a:avLst/>
          </a:prstGeom>
          <a:noFill/>
          <a:ln/>
        </p:spPr>
        <p:txBody>
          <a:bodyPr wrap="none" lIns="0" tIns="0" rIns="8509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4B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143625" y="3448645"/>
            <a:ext cx="235743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고객 대상 실시간 정보 제공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143625" y="3732609"/>
            <a:ext cx="23574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재고 및 가격 정보를 고객 전용 앱을 통해 즉시 공유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000375" y="4830961"/>
            <a:ext cx="5715000" cy="31253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FUEL LINK 팀 | AI 기반 스마트 주유소 운영 플랫폼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2125</Words>
  <Application>Microsoft Office PowerPoint</Application>
  <PresentationFormat>화면 슬라이드 쇼(16:9)</PresentationFormat>
  <Paragraphs>498</Paragraphs>
  <Slides>23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1" baseType="lpstr">
      <vt:lpstr>-apple-system</vt:lpstr>
      <vt:lpstr>serif</vt:lpstr>
      <vt:lpstr>Space Grotesk</vt:lpstr>
      <vt:lpstr>Space Grotesk Bold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중진공12</cp:lastModifiedBy>
  <cp:revision>5</cp:revision>
  <dcterms:created xsi:type="dcterms:W3CDTF">2026-06-26T02:48:49Z</dcterms:created>
  <dcterms:modified xsi:type="dcterms:W3CDTF">2026-06-26T03:33:48Z</dcterms:modified>
</cp:coreProperties>
</file>